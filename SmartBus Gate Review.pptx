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League Spartan" panose="020B0604020202020204" charset="0"/>
      <p:regular r:id="rId17"/>
    </p:embeddedFont>
    <p:embeddedFont>
      <p:font typeface="Source Sans 3" panose="020B0604020202020204" charset="0"/>
      <p:regular r:id="rId18"/>
    </p:embeddedFont>
    <p:embeddedFont>
      <p:font typeface="Source Sans 3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FA3761-D3F5-4AC8-A480-1D112FC6B793}" v="3" dt="2026-10-14T12:44:02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nna Kumar" userId="cdec434ec5ddaf0e" providerId="LiveId" clId="{9F07F99A-8588-48D7-9300-72503059EECF}"/>
    <pc:docChg chg="undo custSel modSld">
      <pc:chgData name="Prasanna Kumar" userId="cdec434ec5ddaf0e" providerId="LiveId" clId="{9F07F99A-8588-48D7-9300-72503059EECF}" dt="2026-10-14T12:38:56.367" v="12" actId="1076"/>
      <pc:docMkLst>
        <pc:docMk/>
      </pc:docMkLst>
      <pc:sldChg chg="modSp mod">
        <pc:chgData name="Prasanna Kumar" userId="cdec434ec5ddaf0e" providerId="LiveId" clId="{9F07F99A-8588-48D7-9300-72503059EECF}" dt="2026-10-14T12:38:56.367" v="12" actId="1076"/>
        <pc:sldMkLst>
          <pc:docMk/>
          <pc:sldMk cId="0" sldId="257"/>
        </pc:sldMkLst>
        <pc:spChg chg="mod">
          <ac:chgData name="Prasanna Kumar" userId="cdec434ec5ddaf0e" providerId="LiveId" clId="{9F07F99A-8588-48D7-9300-72503059EECF}" dt="2026-10-14T12:36:12.637" v="4" actId="103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Prasanna Kumar" userId="cdec434ec5ddaf0e" providerId="LiveId" clId="{9F07F99A-8588-48D7-9300-72503059EECF}" dt="2026-10-14T12:36:12.637" v="4" actId="103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Prasanna Kumar" userId="cdec434ec5ddaf0e" providerId="LiveId" clId="{9F07F99A-8588-48D7-9300-72503059EECF}" dt="2026-10-14T12:37:53.999" v="7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Prasanna Kumar" userId="cdec434ec5ddaf0e" providerId="LiveId" clId="{9F07F99A-8588-48D7-9300-72503059EECF}" dt="2026-10-14T12:36:12.637" v="4" actId="103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Prasanna Kumar" userId="cdec434ec5ddaf0e" providerId="LiveId" clId="{9F07F99A-8588-48D7-9300-72503059EECF}" dt="2026-10-14T12:37:57.510" v="8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Prasanna Kumar" userId="cdec434ec5ddaf0e" providerId="LiveId" clId="{9F07F99A-8588-48D7-9300-72503059EECF}" dt="2026-10-14T12:36:12.637" v="4" actId="1035"/>
          <ac:spMkLst>
            <pc:docMk/>
            <pc:sldMk cId="0" sldId="257"/>
            <ac:spMk id="30" creationId="{00000000-0000-0000-0000-000000000000}"/>
          </ac:spMkLst>
        </pc:spChg>
        <pc:spChg chg="mod">
          <ac:chgData name="Prasanna Kumar" userId="cdec434ec5ddaf0e" providerId="LiveId" clId="{9F07F99A-8588-48D7-9300-72503059EECF}" dt="2026-10-14T12:38:05.485" v="9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Prasanna Kumar" userId="cdec434ec5ddaf0e" providerId="LiveId" clId="{9F07F99A-8588-48D7-9300-72503059EECF}" dt="2026-10-14T12:38:56.367" v="12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Prasanna Kumar" userId="cdec434ec5ddaf0e" providerId="LiveId" clId="{9F07F99A-8588-48D7-9300-72503059EECF}" dt="2026-10-14T12:38:13.893" v="10" actId="1076"/>
          <ac:spMkLst>
            <pc:docMk/>
            <pc:sldMk cId="0" sldId="257"/>
            <ac:spMk id="3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B33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066800"/>
            <a:ext cx="2095500" cy="95250"/>
            <a:chOff x="0" y="0"/>
            <a:chExt cx="2794000" cy="127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4000" cy="127000"/>
            </a:xfrm>
            <a:custGeom>
              <a:avLst/>
              <a:gdLst/>
              <a:ahLst/>
              <a:cxnLst/>
              <a:rect l="l" t="t" r="r" b="b"/>
              <a:pathLst>
                <a:path w="2794000" h="127000">
                  <a:moveTo>
                    <a:pt x="0" y="0"/>
                  </a:moveTo>
                  <a:lnTo>
                    <a:pt x="2794000" y="0"/>
                  </a:lnTo>
                  <a:lnTo>
                    <a:pt x="279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76300" y="1533525"/>
            <a:ext cx="8858250" cy="219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SMARTBUS</a:t>
            </a:r>
          </a:p>
          <a:p>
            <a:pPr algn="l">
              <a:lnSpc>
                <a:spcPts val="8400"/>
              </a:lnSpc>
            </a:pPr>
            <a:r>
              <a:rPr lang="en-US" sz="8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GATE TRACKER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6300" y="3876675"/>
            <a:ext cx="857250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College Bus Entry, Exit and GPS Journey Monitoring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300" y="5924550"/>
            <a:ext cx="8572500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Rajalakshmi Engineering College, Thandalam, Chennai</a:t>
            </a:r>
          </a:p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Department of Computer Science and Engineering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6300" y="4726538"/>
            <a:ext cx="2234457" cy="824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71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PRASANNA K </a:t>
            </a:r>
          </a:p>
          <a:p>
            <a:pPr algn="l">
              <a:lnSpc>
                <a:spcPts val="3257"/>
              </a:lnSpc>
            </a:pPr>
            <a:r>
              <a:rPr lang="en-US" sz="271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240701396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ABSTRACT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76300" y="1790700"/>
            <a:ext cx="11049000" cy="69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 dirty="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digital transport-management solution integrating campus gate entry/exit recording with GPS journey monitoring in one clear operational view.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25500" y="1819275"/>
            <a:ext cx="342900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1" dirty="0">
                <a:solidFill>
                  <a:srgbClr val="F4C4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120+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25500" y="2724150"/>
            <a:ext cx="3429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 spc="66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BUS RECORDS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1050" y="3762375"/>
            <a:ext cx="14763750" cy="781050"/>
            <a:chOff x="0" y="0"/>
            <a:chExt cx="19685000" cy="1041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685000" cy="1041400"/>
            </a:xfrm>
            <a:custGeom>
              <a:avLst/>
              <a:gdLst/>
              <a:ahLst/>
              <a:cxnLst/>
              <a:rect l="l" t="t" r="r" b="b"/>
              <a:pathLst>
                <a:path w="19685000" h="1041400">
                  <a:moveTo>
                    <a:pt x="0" y="0"/>
                  </a:moveTo>
                  <a:lnTo>
                    <a:pt x="19685000" y="0"/>
                  </a:lnTo>
                  <a:lnTo>
                    <a:pt x="19685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685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050" y="4829175"/>
            <a:ext cx="14763750" cy="781050"/>
            <a:chOff x="0" y="0"/>
            <a:chExt cx="19685000" cy="1041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85000" cy="1041400"/>
            </a:xfrm>
            <a:custGeom>
              <a:avLst/>
              <a:gdLst/>
              <a:ahLst/>
              <a:cxnLst/>
              <a:rect l="l" t="t" r="r" b="b"/>
              <a:pathLst>
                <a:path w="19685000" h="1041400">
                  <a:moveTo>
                    <a:pt x="0" y="0"/>
                  </a:moveTo>
                  <a:lnTo>
                    <a:pt x="19685000" y="0"/>
                  </a:lnTo>
                  <a:lnTo>
                    <a:pt x="19685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685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1050" y="5895975"/>
            <a:ext cx="14763750" cy="781050"/>
            <a:chOff x="0" y="0"/>
            <a:chExt cx="19685000" cy="1041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85000" cy="1041400"/>
            </a:xfrm>
            <a:custGeom>
              <a:avLst/>
              <a:gdLst/>
              <a:ahLst/>
              <a:cxnLst/>
              <a:rect l="l" t="t" r="r" b="b"/>
              <a:pathLst>
                <a:path w="19685000" h="1041400">
                  <a:moveTo>
                    <a:pt x="0" y="0"/>
                  </a:moveTo>
                  <a:lnTo>
                    <a:pt x="19685000" y="0"/>
                  </a:lnTo>
                  <a:lnTo>
                    <a:pt x="19685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685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1050" y="6962775"/>
            <a:ext cx="14763750" cy="781050"/>
            <a:chOff x="0" y="0"/>
            <a:chExt cx="19685000" cy="1041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685000" cy="1041400"/>
            </a:xfrm>
            <a:custGeom>
              <a:avLst/>
              <a:gdLst/>
              <a:ahLst/>
              <a:cxnLst/>
              <a:rect l="l" t="t" r="r" b="b"/>
              <a:pathLst>
                <a:path w="19685000" h="1041400">
                  <a:moveTo>
                    <a:pt x="0" y="0"/>
                  </a:moveTo>
                  <a:lnTo>
                    <a:pt x="19685000" y="0"/>
                  </a:lnTo>
                  <a:lnTo>
                    <a:pt x="19685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685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1050" y="8029575"/>
            <a:ext cx="14763750" cy="781050"/>
            <a:chOff x="0" y="0"/>
            <a:chExt cx="19685000" cy="1041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685000" cy="1041400"/>
            </a:xfrm>
            <a:custGeom>
              <a:avLst/>
              <a:gdLst/>
              <a:ahLst/>
              <a:cxnLst/>
              <a:rect l="l" t="t" r="r" b="b"/>
              <a:pathLst>
                <a:path w="19685000" h="1041400">
                  <a:moveTo>
                    <a:pt x="0" y="0"/>
                  </a:moveTo>
                  <a:lnTo>
                    <a:pt x="19685000" y="0"/>
                  </a:lnTo>
                  <a:lnTo>
                    <a:pt x="19685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FF7D1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9685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47750" y="4000500"/>
            <a:ext cx="5524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 dirty="0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09750" y="3991927"/>
            <a:ext cx="11239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dirty="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Centralized digital fleet records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7750" y="5044759"/>
            <a:ext cx="5524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 dirty="0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21597" y="5041903"/>
            <a:ext cx="11239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dirty="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Camera-assisted plate recognition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7750" y="6111559"/>
            <a:ext cx="5524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 dirty="0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15247" y="6101718"/>
            <a:ext cx="11239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dirty="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Shift-wise schedule validation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750" y="7178359"/>
            <a:ext cx="5524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 dirty="0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54200" y="7178359"/>
            <a:ext cx="11239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dirty="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Evening GPS journey monitoring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750" y="8245159"/>
            <a:ext cx="5524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 dirty="0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09750" y="8241668"/>
            <a:ext cx="11239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dirty="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Sample records + simulated GPS in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572750" y="1762125"/>
            <a:ext cx="6762750" cy="7429500"/>
          </a:xfrm>
          <a:custGeom>
            <a:avLst/>
            <a:gdLst/>
            <a:ahLst/>
            <a:cxnLst/>
            <a:rect l="l" t="t" r="r" b="b"/>
            <a:pathLst>
              <a:path w="6762750" h="7429500">
                <a:moveTo>
                  <a:pt x="0" y="0"/>
                </a:moveTo>
                <a:lnTo>
                  <a:pt x="6762750" y="0"/>
                </a:lnTo>
                <a:lnTo>
                  <a:pt x="6762750" y="7429500"/>
                </a:lnTo>
                <a:lnTo>
                  <a:pt x="0" y="742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" b="-14"/>
            </a:stretch>
          </a:blipFill>
          <a:ln cap="rnd">
            <a:noFill/>
            <a:prstDash val="solid"/>
            <a:round/>
          </a:ln>
        </p:spPr>
      </p:sp>
      <p:sp>
        <p:nvSpPr>
          <p:cNvPr id="7" name="TextBox 7"/>
          <p:cNvSpPr txBox="1"/>
          <p:nvPr/>
        </p:nvSpPr>
        <p:spPr>
          <a:xfrm>
            <a:off x="876300" y="1924050"/>
            <a:ext cx="8572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  Manual records are difficult to maintain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300" y="3048000"/>
            <a:ext cx="8572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  Gate identification creates avoidable delays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6300" y="4171950"/>
            <a:ext cx="8572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  Schedule comparison is time-consuming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6300" y="5295900"/>
            <a:ext cx="8572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  Evening journeys lack visibility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300" y="6419850"/>
            <a:ext cx="8572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  Routes, stops and assignments are hard to retrieve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6300" y="7543800"/>
            <a:ext cx="8572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  Location and schedule data remain fragmented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952625"/>
            <a:ext cx="3714750" cy="2667000"/>
            <a:chOff x="0" y="0"/>
            <a:chExt cx="4953000" cy="3556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953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556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55600" y="355600"/>
              <a:ext cx="838200" cy="838200"/>
              <a:chOff x="0" y="0"/>
              <a:chExt cx="838200" cy="838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419100" y="0"/>
                    </a:moveTo>
                    <a:cubicBezTo>
                      <a:pt x="650563" y="0"/>
                      <a:pt x="838200" y="187637"/>
                      <a:pt x="838200" y="419100"/>
                    </a:cubicBezTo>
                    <a:cubicBezTo>
                      <a:pt x="838200" y="650563"/>
                      <a:pt x="650563" y="838200"/>
                      <a:pt x="419100" y="838200"/>
                    </a:cubicBezTo>
                    <a:cubicBezTo>
                      <a:pt x="187637" y="838200"/>
                      <a:pt x="0" y="650563"/>
                      <a:pt x="0" y="419100"/>
                    </a:cubicBezTo>
                    <a:cubicBezTo>
                      <a:pt x="0" y="187637"/>
                      <a:pt x="187637" y="0"/>
                      <a:pt x="419100" y="0"/>
                    </a:cubicBez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382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25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1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55600" y="1577975"/>
              <a:ext cx="4241800" cy="778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CENTRALIZE</a:t>
              </a:r>
            </a:p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bus + driver data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972050" y="1952625"/>
            <a:ext cx="3714750" cy="2667000"/>
            <a:chOff x="0" y="0"/>
            <a:chExt cx="4953000" cy="355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953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556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55600" y="355600"/>
              <a:ext cx="838200" cy="838200"/>
              <a:chOff x="0" y="0"/>
              <a:chExt cx="838200" cy="838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419100" y="0"/>
                    </a:moveTo>
                    <a:cubicBezTo>
                      <a:pt x="650563" y="0"/>
                      <a:pt x="838200" y="187637"/>
                      <a:pt x="838200" y="419100"/>
                    </a:cubicBezTo>
                    <a:cubicBezTo>
                      <a:pt x="838200" y="650563"/>
                      <a:pt x="650563" y="838200"/>
                      <a:pt x="419100" y="838200"/>
                    </a:cubicBezTo>
                    <a:cubicBezTo>
                      <a:pt x="187637" y="838200"/>
                      <a:pt x="0" y="650563"/>
                      <a:pt x="0" y="419100"/>
                    </a:cubicBezTo>
                    <a:cubicBezTo>
                      <a:pt x="0" y="187637"/>
                      <a:pt x="187637" y="0"/>
                      <a:pt x="419100" y="0"/>
                    </a:cubicBez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8382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25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2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55600" y="1577975"/>
              <a:ext cx="4241800" cy="778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SCALE</a:t>
              </a:r>
            </a:p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120+ buses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67800" y="1952625"/>
            <a:ext cx="3714750" cy="2667000"/>
            <a:chOff x="0" y="0"/>
            <a:chExt cx="4953000" cy="3556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953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556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55600" y="355600"/>
              <a:ext cx="838200" cy="838200"/>
              <a:chOff x="0" y="0"/>
              <a:chExt cx="838200" cy="838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419100" y="0"/>
                    </a:moveTo>
                    <a:cubicBezTo>
                      <a:pt x="650563" y="0"/>
                      <a:pt x="838200" y="187637"/>
                      <a:pt x="838200" y="419100"/>
                    </a:cubicBezTo>
                    <a:cubicBezTo>
                      <a:pt x="838200" y="650563"/>
                      <a:pt x="650563" y="838200"/>
                      <a:pt x="419100" y="838200"/>
                    </a:cubicBezTo>
                    <a:cubicBezTo>
                      <a:pt x="187637" y="838200"/>
                      <a:pt x="0" y="650563"/>
                      <a:pt x="0" y="419100"/>
                    </a:cubicBezTo>
                    <a:cubicBezTo>
                      <a:pt x="0" y="187637"/>
                      <a:pt x="187637" y="0"/>
                      <a:pt x="419100" y="0"/>
                    </a:cubicBez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8382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25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3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55600" y="1577975"/>
              <a:ext cx="4241800" cy="778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ORGANIZE</a:t>
              </a:r>
            </a:p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shifts + routes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163550" y="1952625"/>
            <a:ext cx="3714750" cy="2667000"/>
            <a:chOff x="0" y="0"/>
            <a:chExt cx="4953000" cy="3556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953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556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55600" y="355600"/>
              <a:ext cx="838200" cy="838200"/>
              <a:chOff x="0" y="0"/>
              <a:chExt cx="838200" cy="838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419100" y="0"/>
                    </a:moveTo>
                    <a:cubicBezTo>
                      <a:pt x="650563" y="0"/>
                      <a:pt x="838200" y="187637"/>
                      <a:pt x="838200" y="419100"/>
                    </a:cubicBezTo>
                    <a:cubicBezTo>
                      <a:pt x="838200" y="650563"/>
                      <a:pt x="650563" y="838200"/>
                      <a:pt x="419100" y="838200"/>
                    </a:cubicBezTo>
                    <a:cubicBezTo>
                      <a:pt x="187637" y="838200"/>
                      <a:pt x="0" y="650563"/>
                      <a:pt x="0" y="419100"/>
                    </a:cubicBezTo>
                    <a:cubicBezTo>
                      <a:pt x="0" y="187637"/>
                      <a:pt x="187637" y="0"/>
                      <a:pt x="419100" y="0"/>
                    </a:cubicBez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8382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25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4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55600" y="1577975"/>
              <a:ext cx="4241800" cy="778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IDENTIFY</a:t>
              </a:r>
            </a:p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plates by camera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6300" y="5286375"/>
            <a:ext cx="3714750" cy="2667000"/>
            <a:chOff x="0" y="0"/>
            <a:chExt cx="4953000" cy="355600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953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556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55600" y="355600"/>
              <a:ext cx="838200" cy="838200"/>
              <a:chOff x="0" y="0"/>
              <a:chExt cx="838200" cy="8382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419100" y="0"/>
                    </a:moveTo>
                    <a:cubicBezTo>
                      <a:pt x="650563" y="0"/>
                      <a:pt x="838200" y="187637"/>
                      <a:pt x="838200" y="419100"/>
                    </a:cubicBezTo>
                    <a:cubicBezTo>
                      <a:pt x="838200" y="650563"/>
                      <a:pt x="650563" y="838200"/>
                      <a:pt x="419100" y="838200"/>
                    </a:cubicBezTo>
                    <a:cubicBezTo>
                      <a:pt x="187637" y="838200"/>
                      <a:pt x="0" y="650563"/>
                      <a:pt x="0" y="419100"/>
                    </a:cubicBezTo>
                    <a:cubicBezTo>
                      <a:pt x="0" y="187637"/>
                      <a:pt x="187637" y="0"/>
                      <a:pt x="419100" y="0"/>
                    </a:cubicBez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8382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25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5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355600" y="1577975"/>
              <a:ext cx="4241800" cy="778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VALIDATE</a:t>
              </a:r>
            </a:p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entry + departure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972050" y="5286375"/>
            <a:ext cx="3714750" cy="2667000"/>
            <a:chOff x="0" y="0"/>
            <a:chExt cx="4953000" cy="3556000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953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556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355600" y="355600"/>
              <a:ext cx="838200" cy="838200"/>
              <a:chOff x="0" y="0"/>
              <a:chExt cx="838200" cy="8382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419100" y="0"/>
                    </a:moveTo>
                    <a:cubicBezTo>
                      <a:pt x="650563" y="0"/>
                      <a:pt x="838200" y="187637"/>
                      <a:pt x="838200" y="419100"/>
                    </a:cubicBezTo>
                    <a:cubicBezTo>
                      <a:pt x="838200" y="650563"/>
                      <a:pt x="650563" y="838200"/>
                      <a:pt x="419100" y="838200"/>
                    </a:cubicBezTo>
                    <a:cubicBezTo>
                      <a:pt x="187637" y="838200"/>
                      <a:pt x="0" y="650563"/>
                      <a:pt x="0" y="419100"/>
                    </a:cubicBezTo>
                    <a:cubicBezTo>
                      <a:pt x="0" y="187637"/>
                      <a:pt x="187637" y="0"/>
                      <a:pt x="419100" y="0"/>
                    </a:cubicBez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8382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25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6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355600" y="1577975"/>
              <a:ext cx="4241800" cy="778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TRACK</a:t>
              </a:r>
            </a:p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evening journeys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067800" y="5286375"/>
            <a:ext cx="4095750" cy="2667000"/>
            <a:chOff x="0" y="0"/>
            <a:chExt cx="5461000" cy="3556000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5461000" cy="3556000"/>
              <a:chOff x="0" y="0"/>
              <a:chExt cx="5461000" cy="35560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5461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3556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4C4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5461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355600" y="355600"/>
              <a:ext cx="838200" cy="838200"/>
              <a:chOff x="0" y="0"/>
              <a:chExt cx="838200" cy="8382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419100" y="0"/>
                    </a:moveTo>
                    <a:cubicBezTo>
                      <a:pt x="650563" y="0"/>
                      <a:pt x="838200" y="187637"/>
                      <a:pt x="838200" y="419100"/>
                    </a:cubicBezTo>
                    <a:cubicBezTo>
                      <a:pt x="838200" y="650563"/>
                      <a:pt x="650563" y="838200"/>
                      <a:pt x="419100" y="838200"/>
                    </a:cubicBezTo>
                    <a:cubicBezTo>
                      <a:pt x="187637" y="838200"/>
                      <a:pt x="0" y="650563"/>
                      <a:pt x="0" y="419100"/>
                    </a:cubicBezTo>
                    <a:cubicBezTo>
                      <a:pt x="0" y="187637"/>
                      <a:pt x="187637" y="0"/>
                      <a:pt x="419100" y="0"/>
                    </a:cubicBez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8382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25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7</a:t>
                </a:r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355600" y="1577975"/>
              <a:ext cx="4749800" cy="778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REPORT</a:t>
              </a:r>
            </a:p>
            <a:p>
              <a:pPr algn="l">
                <a:lnSpc>
                  <a:spcPts val="2301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destination arrival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SYSTEM  /  PROPOSED SYSTEM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714500"/>
            <a:ext cx="7810500" cy="857250"/>
            <a:chOff x="0" y="0"/>
            <a:chExt cx="10414000" cy="114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14000" cy="1143000"/>
            </a:xfrm>
            <a:custGeom>
              <a:avLst/>
              <a:gdLst/>
              <a:ahLst/>
              <a:cxnLst/>
              <a:rect l="l" t="t" r="r" b="b"/>
              <a:pathLst>
                <a:path w="10414000" h="1143000">
                  <a:moveTo>
                    <a:pt x="0" y="0"/>
                  </a:moveTo>
                  <a:lnTo>
                    <a:pt x="10414000" y="0"/>
                  </a:lnTo>
                  <a:lnTo>
                    <a:pt x="10414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14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29750" y="1714500"/>
            <a:ext cx="7981950" cy="857250"/>
            <a:chOff x="0" y="0"/>
            <a:chExt cx="10642600" cy="1143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42600" cy="1143000"/>
            </a:xfrm>
            <a:custGeom>
              <a:avLst/>
              <a:gdLst/>
              <a:ahLst/>
              <a:cxnLst/>
              <a:rect l="l" t="t" r="r" b="b"/>
              <a:pathLst>
                <a:path w="10642600" h="1143000">
                  <a:moveTo>
                    <a:pt x="0" y="0"/>
                  </a:moveTo>
                  <a:lnTo>
                    <a:pt x="10642600" y="0"/>
                  </a:lnTo>
                  <a:lnTo>
                    <a:pt x="106426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6426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57300" y="2066925"/>
            <a:ext cx="7429500" cy="353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/ MANUAL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91700" y="2046922"/>
            <a:ext cx="7429500" cy="353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1" dirty="0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SMARTBUS GATE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76300" y="2952750"/>
            <a:ext cx="16535400" cy="876300"/>
            <a:chOff x="0" y="0"/>
            <a:chExt cx="22047200" cy="1168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47200" cy="1168400"/>
            </a:xfrm>
            <a:custGeom>
              <a:avLst/>
              <a:gdLst/>
              <a:ahLst/>
              <a:cxnLst/>
              <a:rect l="l" t="t" r="r" b="b"/>
              <a:pathLst>
                <a:path w="22047200" h="1168400">
                  <a:moveTo>
                    <a:pt x="0" y="0"/>
                  </a:moveTo>
                  <a:lnTo>
                    <a:pt x="22047200" y="0"/>
                  </a:lnTo>
                  <a:lnTo>
                    <a:pt x="220472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E8EDF2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0472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6300" y="4095750"/>
            <a:ext cx="16535400" cy="876300"/>
            <a:chOff x="0" y="0"/>
            <a:chExt cx="22047200" cy="1168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47200" cy="1168400"/>
            </a:xfrm>
            <a:custGeom>
              <a:avLst/>
              <a:gdLst/>
              <a:ahLst/>
              <a:cxnLst/>
              <a:rect l="l" t="t" r="r" b="b"/>
              <a:pathLst>
                <a:path w="22047200" h="1168400">
                  <a:moveTo>
                    <a:pt x="0" y="0"/>
                  </a:moveTo>
                  <a:lnTo>
                    <a:pt x="22047200" y="0"/>
                  </a:lnTo>
                  <a:lnTo>
                    <a:pt x="220472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20472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6300" y="5238750"/>
            <a:ext cx="16535400" cy="876300"/>
            <a:chOff x="0" y="0"/>
            <a:chExt cx="22047200" cy="1168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047200" cy="1168400"/>
            </a:xfrm>
            <a:custGeom>
              <a:avLst/>
              <a:gdLst/>
              <a:ahLst/>
              <a:cxnLst/>
              <a:rect l="l" t="t" r="r" b="b"/>
              <a:pathLst>
                <a:path w="22047200" h="1168400">
                  <a:moveTo>
                    <a:pt x="0" y="0"/>
                  </a:moveTo>
                  <a:lnTo>
                    <a:pt x="22047200" y="0"/>
                  </a:lnTo>
                  <a:lnTo>
                    <a:pt x="220472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E8EDF2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20472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6300" y="6381750"/>
            <a:ext cx="16535400" cy="876300"/>
            <a:chOff x="0" y="0"/>
            <a:chExt cx="22047200" cy="1168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047200" cy="1168400"/>
            </a:xfrm>
            <a:custGeom>
              <a:avLst/>
              <a:gdLst/>
              <a:ahLst/>
              <a:cxnLst/>
              <a:rect l="l" t="t" r="r" b="b"/>
              <a:pathLst>
                <a:path w="22047200" h="1168400">
                  <a:moveTo>
                    <a:pt x="0" y="0"/>
                  </a:moveTo>
                  <a:lnTo>
                    <a:pt x="22047200" y="0"/>
                  </a:lnTo>
                  <a:lnTo>
                    <a:pt x="220472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20472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76300" y="7524750"/>
            <a:ext cx="16535400" cy="876300"/>
            <a:chOff x="0" y="0"/>
            <a:chExt cx="22047200" cy="1168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047200" cy="1168400"/>
            </a:xfrm>
            <a:custGeom>
              <a:avLst/>
              <a:gdLst/>
              <a:ahLst/>
              <a:cxnLst/>
              <a:rect l="l" t="t" r="r" b="b"/>
              <a:pathLst>
                <a:path w="22047200" h="1168400">
                  <a:moveTo>
                    <a:pt x="0" y="0"/>
                  </a:moveTo>
                  <a:lnTo>
                    <a:pt x="22047200" y="0"/>
                  </a:lnTo>
                  <a:lnTo>
                    <a:pt x="220472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E8EDF2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20472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90625" y="3181350"/>
            <a:ext cx="72390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×  Distributed transport details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10750" y="3181350"/>
            <a:ext cx="7048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1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  Centralized bus + route records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0625" y="4324350"/>
            <a:ext cx="72390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×  Manual gate-time recording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10750" y="4324350"/>
            <a:ext cx="7048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1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  Camera-assisted plate ID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0625" y="5467350"/>
            <a:ext cx="72390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×  Separate route lookups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10750" y="5467350"/>
            <a:ext cx="7048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1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  Automatic schedule comparison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90625" y="6610350"/>
            <a:ext cx="72390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×  Manual journey tracking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10750" y="6610350"/>
            <a:ext cx="7048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1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  GPS journey monitoring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90625" y="7753350"/>
            <a:ext cx="72390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×  Manual report compilation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10750" y="7753350"/>
            <a:ext cx="70485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1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✓  Searchable reports + dashboard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6300" y="9096375"/>
            <a:ext cx="165354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General system-design comparison — not an audit of REC’s current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TECHNOLOGY STACK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666875"/>
            <a:ext cx="7620000" cy="714375"/>
            <a:chOff x="0" y="0"/>
            <a:chExt cx="10160000" cy="952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60000" cy="952500"/>
            </a:xfrm>
            <a:custGeom>
              <a:avLst/>
              <a:gdLst/>
              <a:ahLst/>
              <a:cxnLst/>
              <a:rect l="l" t="t" r="r" b="b"/>
              <a:pathLst>
                <a:path w="10160000" h="952500">
                  <a:moveTo>
                    <a:pt x="0" y="0"/>
                  </a:moveTo>
                  <a:lnTo>
                    <a:pt x="10160000" y="0"/>
                  </a:lnTo>
                  <a:lnTo>
                    <a:pt x="101600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160000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19200" y="1889760"/>
            <a:ext cx="7620000" cy="29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000" b="1" spc="66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MAIN LANGUAGES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76300" y="2771775"/>
            <a:ext cx="7620000" cy="1143000"/>
            <a:chOff x="0" y="0"/>
            <a:chExt cx="10160000" cy="15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1495425"/>
                  </a:lnTo>
                  <a:cubicBezTo>
                    <a:pt x="10160000" y="1511206"/>
                    <a:pt x="10147206" y="1524000"/>
                    <a:pt x="10131425" y="1524000"/>
                  </a:cubicBezTo>
                  <a:lnTo>
                    <a:pt x="28575" y="1524000"/>
                  </a:lnTo>
                  <a:cubicBezTo>
                    <a:pt x="12793" y="1524000"/>
                    <a:pt x="0" y="1511206"/>
                    <a:pt x="0" y="1495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016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HTML5  •  structure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6300" y="4248150"/>
            <a:ext cx="7620000" cy="1143000"/>
            <a:chOff x="0" y="0"/>
            <a:chExt cx="10160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1495425"/>
                  </a:lnTo>
                  <a:cubicBezTo>
                    <a:pt x="10160000" y="1511206"/>
                    <a:pt x="10147206" y="1524000"/>
                    <a:pt x="10131425" y="1524000"/>
                  </a:cubicBezTo>
                  <a:lnTo>
                    <a:pt x="28575" y="1524000"/>
                  </a:lnTo>
                  <a:cubicBezTo>
                    <a:pt x="12793" y="1524000"/>
                    <a:pt x="0" y="1511206"/>
                    <a:pt x="0" y="1495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016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CSS3  •  responsive styling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6300" y="5724525"/>
            <a:ext cx="7620000" cy="1143000"/>
            <a:chOff x="0" y="0"/>
            <a:chExt cx="10160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1495425"/>
                  </a:lnTo>
                  <a:cubicBezTo>
                    <a:pt x="10160000" y="1511206"/>
                    <a:pt x="10147206" y="1524000"/>
                    <a:pt x="10131425" y="1524000"/>
                  </a:cubicBezTo>
                  <a:lnTo>
                    <a:pt x="28575" y="1524000"/>
                  </a:lnTo>
                  <a:cubicBezTo>
                    <a:pt x="12793" y="1524000"/>
                    <a:pt x="0" y="1511206"/>
                    <a:pt x="0" y="1495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016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JavaScript  •  validation + events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76300" y="7200900"/>
            <a:ext cx="7620000" cy="1143000"/>
            <a:chOff x="0" y="0"/>
            <a:chExt cx="101600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1495425"/>
                  </a:lnTo>
                  <a:cubicBezTo>
                    <a:pt x="10160000" y="1511206"/>
                    <a:pt x="10147206" y="1524000"/>
                    <a:pt x="10131425" y="1524000"/>
                  </a:cubicBezTo>
                  <a:lnTo>
                    <a:pt x="28575" y="1524000"/>
                  </a:lnTo>
                  <a:cubicBezTo>
                    <a:pt x="12793" y="1524000"/>
                    <a:pt x="0" y="1511206"/>
                    <a:pt x="0" y="1495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1016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React.js  •  UI components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58300" y="1666875"/>
            <a:ext cx="7620000" cy="714375"/>
            <a:chOff x="0" y="0"/>
            <a:chExt cx="10160000" cy="952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60000" cy="952500"/>
            </a:xfrm>
            <a:custGeom>
              <a:avLst/>
              <a:gdLst/>
              <a:ahLst/>
              <a:cxnLst/>
              <a:rect l="l" t="t" r="r" b="b"/>
              <a:pathLst>
                <a:path w="10160000" h="952500">
                  <a:moveTo>
                    <a:pt x="0" y="0"/>
                  </a:moveTo>
                  <a:lnTo>
                    <a:pt x="10160000" y="0"/>
                  </a:lnTo>
                  <a:lnTo>
                    <a:pt x="101600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160000" cy="990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601200" y="1889760"/>
            <a:ext cx="7620000" cy="29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000" b="1" spc="66" dirty="0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SUPPORTING TOOLS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258300" y="2771775"/>
            <a:ext cx="7620000" cy="1143000"/>
            <a:chOff x="0" y="0"/>
            <a:chExt cx="10160000" cy="1524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1495425"/>
                  </a:lnTo>
                  <a:cubicBezTo>
                    <a:pt x="10160000" y="1511206"/>
                    <a:pt x="10147206" y="1524000"/>
                    <a:pt x="10131425" y="1524000"/>
                  </a:cubicBezTo>
                  <a:lnTo>
                    <a:pt x="28575" y="1524000"/>
                  </a:lnTo>
                  <a:cubicBezTo>
                    <a:pt x="12793" y="1524000"/>
                    <a:pt x="0" y="1511206"/>
                    <a:pt x="0" y="1495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1016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Vite  •  dev + build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58300" y="4248150"/>
            <a:ext cx="7620000" cy="1143000"/>
            <a:chOff x="0" y="0"/>
            <a:chExt cx="10160000" cy="1524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1495425"/>
                  </a:lnTo>
                  <a:cubicBezTo>
                    <a:pt x="10160000" y="1511206"/>
                    <a:pt x="10147206" y="1524000"/>
                    <a:pt x="10131425" y="1524000"/>
                  </a:cubicBezTo>
                  <a:lnTo>
                    <a:pt x="28575" y="1524000"/>
                  </a:lnTo>
                  <a:cubicBezTo>
                    <a:pt x="12793" y="1524000"/>
                    <a:pt x="0" y="1511206"/>
                    <a:pt x="0" y="1495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1016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Tesseract.js  •  OCR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58300" y="5724525"/>
            <a:ext cx="7620000" cy="1143000"/>
            <a:chOff x="0" y="0"/>
            <a:chExt cx="10160000" cy="1524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1495425"/>
                  </a:lnTo>
                  <a:cubicBezTo>
                    <a:pt x="10160000" y="1511206"/>
                    <a:pt x="10147206" y="1524000"/>
                    <a:pt x="10131425" y="1524000"/>
                  </a:cubicBezTo>
                  <a:lnTo>
                    <a:pt x="28575" y="1524000"/>
                  </a:lnTo>
                  <a:cubicBezTo>
                    <a:pt x="12793" y="1524000"/>
                    <a:pt x="0" y="1511206"/>
                    <a:pt x="0" y="1495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1016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Leaflet + OpenStreetMap  •  maps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258300" y="7200900"/>
            <a:ext cx="7620000" cy="1143000"/>
            <a:chOff x="0" y="0"/>
            <a:chExt cx="10160000" cy="1524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1495425"/>
                  </a:lnTo>
                  <a:cubicBezTo>
                    <a:pt x="10160000" y="1511206"/>
                    <a:pt x="10147206" y="1524000"/>
                    <a:pt x="10131425" y="1524000"/>
                  </a:cubicBezTo>
                  <a:lnTo>
                    <a:pt x="28575" y="1524000"/>
                  </a:lnTo>
                  <a:cubicBezTo>
                    <a:pt x="12793" y="1524000"/>
                    <a:pt x="0" y="1511206"/>
                    <a:pt x="0" y="1495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1016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JSON + </a:t>
              </a:r>
              <a:r>
                <a:rPr lang="en-US" sz="2400" b="1" dirty="0" err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localStorage</a:t>
              </a:r>
              <a:r>
                <a:rPr lang="en-US" sz="2400" b="1" dirty="0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 •  prototype data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95500" y="1714500"/>
            <a:ext cx="14097000" cy="1190625"/>
            <a:chOff x="0" y="0"/>
            <a:chExt cx="18796000" cy="1587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796000" cy="1587500"/>
            </a:xfrm>
            <a:custGeom>
              <a:avLst/>
              <a:gdLst/>
              <a:ahLst/>
              <a:cxnLst/>
              <a:rect l="l" t="t" r="r" b="b"/>
              <a:pathLst>
                <a:path w="18796000" h="1587500">
                  <a:moveTo>
                    <a:pt x="15446" y="0"/>
                  </a:moveTo>
                  <a:lnTo>
                    <a:pt x="18780554" y="0"/>
                  </a:lnTo>
                  <a:cubicBezTo>
                    <a:pt x="18789084" y="0"/>
                    <a:pt x="18796000" y="6915"/>
                    <a:pt x="18796000" y="15446"/>
                  </a:cubicBezTo>
                  <a:lnTo>
                    <a:pt x="18796000" y="1572054"/>
                  </a:lnTo>
                  <a:cubicBezTo>
                    <a:pt x="18796000" y="1580585"/>
                    <a:pt x="18789084" y="1587500"/>
                    <a:pt x="18780554" y="1587500"/>
                  </a:cubicBezTo>
                  <a:lnTo>
                    <a:pt x="15446" y="1587500"/>
                  </a:lnTo>
                  <a:cubicBezTo>
                    <a:pt x="6915" y="1587500"/>
                    <a:pt x="0" y="1580585"/>
                    <a:pt x="0" y="1572054"/>
                  </a:cubicBezTo>
                  <a:lnTo>
                    <a:pt x="0" y="15446"/>
                  </a:lnTo>
                  <a:cubicBezTo>
                    <a:pt x="0" y="6915"/>
                    <a:pt x="6915" y="0"/>
                    <a:pt x="154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8796000" cy="157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INPUT LAYER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Gate camera  •  bus &amp; driver data  •  routes &amp; shifts  •  GPS feed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9144000" y="2905125"/>
            <a:ext cx="0" cy="504825"/>
          </a:xfrm>
          <a:prstGeom prst="line">
            <a:avLst/>
          </a:prstGeom>
          <a:ln w="57150" cap="rnd">
            <a:solidFill>
              <a:srgbClr val="F4C4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2095500" y="3524250"/>
            <a:ext cx="14097000" cy="1190625"/>
            <a:chOff x="0" y="0"/>
            <a:chExt cx="18796000" cy="1587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96000" cy="1587500"/>
            </a:xfrm>
            <a:custGeom>
              <a:avLst/>
              <a:gdLst/>
              <a:ahLst/>
              <a:cxnLst/>
              <a:rect l="l" t="t" r="r" b="b"/>
              <a:pathLst>
                <a:path w="18796000" h="1587500">
                  <a:moveTo>
                    <a:pt x="15446" y="0"/>
                  </a:moveTo>
                  <a:lnTo>
                    <a:pt x="18780554" y="0"/>
                  </a:lnTo>
                  <a:cubicBezTo>
                    <a:pt x="18789084" y="0"/>
                    <a:pt x="18796000" y="6915"/>
                    <a:pt x="18796000" y="15446"/>
                  </a:cubicBezTo>
                  <a:lnTo>
                    <a:pt x="18796000" y="1572054"/>
                  </a:lnTo>
                  <a:cubicBezTo>
                    <a:pt x="18796000" y="1580585"/>
                    <a:pt x="18789084" y="1587500"/>
                    <a:pt x="18780554" y="1587500"/>
                  </a:cubicBezTo>
                  <a:lnTo>
                    <a:pt x="15446" y="1587500"/>
                  </a:lnTo>
                  <a:cubicBezTo>
                    <a:pt x="6915" y="1587500"/>
                    <a:pt x="0" y="1580585"/>
                    <a:pt x="0" y="1572054"/>
                  </a:cubicBezTo>
                  <a:lnTo>
                    <a:pt x="0" y="15446"/>
                  </a:lnTo>
                  <a:cubicBezTo>
                    <a:pt x="0" y="6915"/>
                    <a:pt x="6915" y="0"/>
                    <a:pt x="15446" y="0"/>
                  </a:cubicBez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8796000" cy="157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PROCESSING LAYER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Frame capture  →  OCR normalization  →  bus match  →  schedule validation  →  geofence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9144000" y="4714875"/>
            <a:ext cx="0" cy="504825"/>
          </a:xfrm>
          <a:prstGeom prst="line">
            <a:avLst/>
          </a:prstGeom>
          <a:ln w="57150" cap="rnd">
            <a:solidFill>
              <a:srgbClr val="F4C4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2095500" y="5334000"/>
            <a:ext cx="14097000" cy="1190625"/>
            <a:chOff x="0" y="0"/>
            <a:chExt cx="18796000" cy="1587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796000" cy="1587500"/>
            </a:xfrm>
            <a:custGeom>
              <a:avLst/>
              <a:gdLst/>
              <a:ahLst/>
              <a:cxnLst/>
              <a:rect l="l" t="t" r="r" b="b"/>
              <a:pathLst>
                <a:path w="18796000" h="1587500">
                  <a:moveTo>
                    <a:pt x="15446" y="0"/>
                  </a:moveTo>
                  <a:lnTo>
                    <a:pt x="18780554" y="0"/>
                  </a:lnTo>
                  <a:cubicBezTo>
                    <a:pt x="18789084" y="0"/>
                    <a:pt x="18796000" y="6915"/>
                    <a:pt x="18796000" y="15446"/>
                  </a:cubicBezTo>
                  <a:lnTo>
                    <a:pt x="18796000" y="1572054"/>
                  </a:lnTo>
                  <a:cubicBezTo>
                    <a:pt x="18796000" y="1580585"/>
                    <a:pt x="18789084" y="1587500"/>
                    <a:pt x="18780554" y="1587500"/>
                  </a:cubicBezTo>
                  <a:lnTo>
                    <a:pt x="15446" y="1587500"/>
                  </a:lnTo>
                  <a:cubicBezTo>
                    <a:pt x="6915" y="1587500"/>
                    <a:pt x="0" y="1580585"/>
                    <a:pt x="0" y="1572054"/>
                  </a:cubicBezTo>
                  <a:lnTo>
                    <a:pt x="0" y="15446"/>
                  </a:lnTo>
                  <a:cubicBezTo>
                    <a:pt x="0" y="6915"/>
                    <a:pt x="6915" y="0"/>
                    <a:pt x="154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18796000" cy="157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APPLICATION LAYER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Homepage  •  fleet  •  routes  •  entry/exit monitoring  •  tracking  •  analytics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144000" y="6524625"/>
            <a:ext cx="0" cy="504825"/>
          </a:xfrm>
          <a:prstGeom prst="line">
            <a:avLst/>
          </a:prstGeom>
          <a:ln w="57150" cap="rnd">
            <a:solidFill>
              <a:srgbClr val="F4C4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2095500" y="7143750"/>
            <a:ext cx="14097000" cy="1190625"/>
            <a:chOff x="0" y="0"/>
            <a:chExt cx="18796000" cy="1587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796000" cy="1587500"/>
            </a:xfrm>
            <a:custGeom>
              <a:avLst/>
              <a:gdLst/>
              <a:ahLst/>
              <a:cxnLst/>
              <a:rect l="l" t="t" r="r" b="b"/>
              <a:pathLst>
                <a:path w="18796000" h="1587500">
                  <a:moveTo>
                    <a:pt x="15446" y="0"/>
                  </a:moveTo>
                  <a:lnTo>
                    <a:pt x="18780554" y="0"/>
                  </a:lnTo>
                  <a:cubicBezTo>
                    <a:pt x="18789084" y="0"/>
                    <a:pt x="18796000" y="6915"/>
                    <a:pt x="18796000" y="15446"/>
                  </a:cubicBezTo>
                  <a:lnTo>
                    <a:pt x="18796000" y="1572054"/>
                  </a:lnTo>
                  <a:cubicBezTo>
                    <a:pt x="18796000" y="1580585"/>
                    <a:pt x="18789084" y="1587500"/>
                    <a:pt x="18780554" y="1587500"/>
                  </a:cubicBezTo>
                  <a:lnTo>
                    <a:pt x="15446" y="1587500"/>
                  </a:lnTo>
                  <a:cubicBezTo>
                    <a:pt x="6915" y="1587500"/>
                    <a:pt x="0" y="1580585"/>
                    <a:pt x="0" y="1572054"/>
                  </a:cubicBezTo>
                  <a:lnTo>
                    <a:pt x="0" y="15446"/>
                  </a:lnTo>
                  <a:cubicBezTo>
                    <a:pt x="0" y="6915"/>
                    <a:pt x="6915" y="0"/>
                    <a:pt x="15446" y="0"/>
                  </a:cubicBezTo>
                  <a:close/>
                </a:path>
              </a:pathLst>
            </a:custGeom>
            <a:solidFill>
              <a:srgbClr val="E8EDF2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18796000" cy="157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DATA LAYER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JSON datasets  •  browser localStorage  •  GPS history  •  event records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MODULES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809750"/>
            <a:ext cx="4953000" cy="2952750"/>
            <a:chOff x="0" y="0"/>
            <a:chExt cx="6604000" cy="3937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604000" cy="3937000"/>
              <a:chOff x="0" y="0"/>
              <a:chExt cx="6604000" cy="3937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604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93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604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6604000" cy="609600"/>
              <a:chOff x="0" y="0"/>
              <a:chExt cx="66040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6040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096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60400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55600" y="990600"/>
              <a:ext cx="5892800" cy="1333500"/>
              <a:chOff x="0" y="0"/>
              <a:chExt cx="5892800" cy="1333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8928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5892800" h="1333500">
                    <a:moveTo>
                      <a:pt x="0" y="0"/>
                    </a:moveTo>
                    <a:lnTo>
                      <a:pt x="5892800" y="0"/>
                    </a:lnTo>
                    <a:lnTo>
                      <a:pt x="58928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E8ED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8928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55600" y="2574925"/>
              <a:ext cx="5892800" cy="83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Transport homepage</a:t>
              </a:r>
            </a:p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&amp; achievements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000" y="1460500"/>
              <a:ext cx="5334000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D6B7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DEMO DATA  •  CONCEPTUAL UI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00800" y="1809750"/>
            <a:ext cx="4953000" cy="2952750"/>
            <a:chOff x="0" y="0"/>
            <a:chExt cx="6604000" cy="3937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604000" cy="3937000"/>
              <a:chOff x="0" y="0"/>
              <a:chExt cx="6604000" cy="3937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604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93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604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0"/>
              <a:ext cx="6604000" cy="609600"/>
              <a:chOff x="0" y="0"/>
              <a:chExt cx="66040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6040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096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60400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55600" y="990600"/>
              <a:ext cx="5892800" cy="1333500"/>
              <a:chOff x="0" y="0"/>
              <a:chExt cx="5892800" cy="13335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58928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5892800" h="1333500">
                    <a:moveTo>
                      <a:pt x="0" y="0"/>
                    </a:moveTo>
                    <a:lnTo>
                      <a:pt x="5892800" y="0"/>
                    </a:lnTo>
                    <a:lnTo>
                      <a:pt x="58928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E8ED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58928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355600" y="2574925"/>
              <a:ext cx="5892800" cy="83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Fleet + shift-wise</a:t>
              </a:r>
            </a:p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bus details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000" y="1460500"/>
              <a:ext cx="5334000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D6B7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DEMO DATA  •  CONCEPTUAL UI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25300" y="1809750"/>
            <a:ext cx="4953000" cy="2952750"/>
            <a:chOff x="0" y="0"/>
            <a:chExt cx="6604000" cy="3937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604000" cy="3937000"/>
              <a:chOff x="0" y="0"/>
              <a:chExt cx="6604000" cy="3937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604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93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6604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6604000" cy="609600"/>
              <a:chOff x="0" y="0"/>
              <a:chExt cx="6604000" cy="609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6040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096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660400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355600" y="990600"/>
              <a:ext cx="5892800" cy="1333500"/>
              <a:chOff x="0" y="0"/>
              <a:chExt cx="5892800" cy="13335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8928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5892800" h="1333500">
                    <a:moveTo>
                      <a:pt x="0" y="0"/>
                    </a:moveTo>
                    <a:lnTo>
                      <a:pt x="5892800" y="0"/>
                    </a:lnTo>
                    <a:lnTo>
                      <a:pt x="58928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E8ED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58928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355600" y="2574925"/>
              <a:ext cx="5892800" cy="83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Routes + ordered</a:t>
              </a:r>
            </a:p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stopping points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5000" y="1460500"/>
              <a:ext cx="5334000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D6B7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DEMO DATA  •  CONCEPTUAL UI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76300" y="5334000"/>
            <a:ext cx="4953000" cy="2952750"/>
            <a:chOff x="0" y="0"/>
            <a:chExt cx="6604000" cy="3937000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6604000" cy="3937000"/>
              <a:chOff x="0" y="0"/>
              <a:chExt cx="6604000" cy="39370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6604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93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6604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0"/>
              <a:ext cx="6604000" cy="609600"/>
              <a:chOff x="0" y="0"/>
              <a:chExt cx="6604000" cy="609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66040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096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660400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355600" y="990600"/>
              <a:ext cx="5892800" cy="1333500"/>
              <a:chOff x="0" y="0"/>
              <a:chExt cx="5892800" cy="13335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58928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5892800" h="1333500">
                    <a:moveTo>
                      <a:pt x="0" y="0"/>
                    </a:moveTo>
                    <a:lnTo>
                      <a:pt x="5892800" y="0"/>
                    </a:lnTo>
                    <a:lnTo>
                      <a:pt x="58928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E8ED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58928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355600" y="2574925"/>
              <a:ext cx="5892800" cy="83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Standing-location</a:t>
              </a:r>
            </a:p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management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5000" y="1460500"/>
              <a:ext cx="5334000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D6B7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DEMO DATA  •  CONCEPTUAL UI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00800" y="5334000"/>
            <a:ext cx="4953000" cy="2952750"/>
            <a:chOff x="0" y="0"/>
            <a:chExt cx="6604000" cy="3937000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6604000" cy="3937000"/>
              <a:chOff x="0" y="0"/>
              <a:chExt cx="6604000" cy="39370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6604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93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6604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0" y="0"/>
              <a:ext cx="6604000" cy="609600"/>
              <a:chOff x="0" y="0"/>
              <a:chExt cx="6604000" cy="6096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66040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096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660400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355600" y="990600"/>
              <a:ext cx="5892800" cy="1333500"/>
              <a:chOff x="0" y="0"/>
              <a:chExt cx="5892800" cy="13335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58928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5892800" h="1333500">
                    <a:moveTo>
                      <a:pt x="0" y="0"/>
                    </a:moveTo>
                    <a:lnTo>
                      <a:pt x="5892800" y="0"/>
                    </a:lnTo>
                    <a:lnTo>
                      <a:pt x="58928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E8ED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58928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355600" y="2574925"/>
              <a:ext cx="5892800" cy="83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Morning entry +</a:t>
              </a:r>
            </a:p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evening departure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5000" y="1460500"/>
              <a:ext cx="5334000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D6B7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DEMO DATA  •  CONCEPTUAL UI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925300" y="5334000"/>
            <a:ext cx="4953000" cy="2952750"/>
            <a:chOff x="0" y="0"/>
            <a:chExt cx="6604000" cy="3937000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0"/>
              <a:ext cx="6604000" cy="3937000"/>
              <a:chOff x="0" y="0"/>
              <a:chExt cx="6604000" cy="39370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6604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93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6604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0" y="0"/>
              <a:ext cx="6604000" cy="609600"/>
              <a:chOff x="0" y="0"/>
              <a:chExt cx="6604000" cy="6096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66040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096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F4C4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660400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55600" y="990600"/>
              <a:ext cx="5892800" cy="1333500"/>
              <a:chOff x="0" y="0"/>
              <a:chExt cx="5892800" cy="13335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58928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5892800" h="1333500">
                    <a:moveTo>
                      <a:pt x="0" y="0"/>
                    </a:moveTo>
                    <a:lnTo>
                      <a:pt x="5892800" y="0"/>
                    </a:lnTo>
                    <a:lnTo>
                      <a:pt x="58928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E8ED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0" y="-38100"/>
                <a:ext cx="58928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6" name="TextBox 76"/>
            <p:cNvSpPr txBox="1"/>
            <p:nvPr/>
          </p:nvSpPr>
          <p:spPr>
            <a:xfrm>
              <a:off x="355600" y="2574925"/>
              <a:ext cx="5892800" cy="83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GPS journey +</a:t>
              </a:r>
            </a:p>
            <a:p>
              <a:pPr algn="ctr">
                <a:lnSpc>
                  <a:spcPts val="2535"/>
                </a:lnSpc>
              </a:pPr>
              <a:r>
                <a:rPr lang="en-US" sz="1950" b="1">
                  <a:solidFill>
                    <a:srgbClr val="10223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destination arrival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35000" y="1460500"/>
              <a:ext cx="5334000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D6B7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DEMO DATA  •  CONCEPTUAL UI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876300" y="9239250"/>
            <a:ext cx="165354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Fleet dataset includes 120+ fictional demo buses.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 FLEET &amp; ROUTE MANAGEMENT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144250" y="1619250"/>
            <a:ext cx="5810250" cy="6572250"/>
            <a:chOff x="0" y="0"/>
            <a:chExt cx="7747000" cy="876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47000" cy="8763000"/>
            </a:xfrm>
            <a:custGeom>
              <a:avLst/>
              <a:gdLst/>
              <a:ahLst/>
              <a:cxnLst/>
              <a:rect l="l" t="t" r="r" b="b"/>
              <a:pathLst>
                <a:path w="7747000" h="8763000">
                  <a:moveTo>
                    <a:pt x="0" y="0"/>
                  </a:moveTo>
                  <a:lnTo>
                    <a:pt x="7747000" y="0"/>
                  </a:lnTo>
                  <a:lnTo>
                    <a:pt x="77470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747000" cy="880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76300" y="1695450"/>
            <a:ext cx="9715500" cy="69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Fleet records separate bus number, registration, driver, route, shift and schedule — with ordered stopping points for every route.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0" y="1914525"/>
            <a:ext cx="476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66">
                <a:solidFill>
                  <a:srgbClr val="F4C4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EXAMPLE ROUTE  •  DEMO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11000" y="2657475"/>
            <a:ext cx="4762500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7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 1A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11000" y="3590925"/>
            <a:ext cx="4762500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Porur  →  College</a:t>
            </a:r>
          </a:p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Departure: 6:40 AM</a:t>
            </a:r>
          </a:p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Scheduled arrival: 7:40 AM</a:t>
            </a:r>
          </a:p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Driver: Demo Driver 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76300" y="3857625"/>
            <a:ext cx="4381500" cy="1047750"/>
            <a:chOff x="0" y="0"/>
            <a:chExt cx="5842000" cy="139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42000" cy="1397000"/>
            </a:xfrm>
            <a:custGeom>
              <a:avLst/>
              <a:gdLst/>
              <a:ahLst/>
              <a:cxnLst/>
              <a:rect l="l" t="t" r="r" b="b"/>
              <a:pathLst>
                <a:path w="5842000" h="1397000">
                  <a:moveTo>
                    <a:pt x="49696" y="0"/>
                  </a:moveTo>
                  <a:lnTo>
                    <a:pt x="5792304" y="0"/>
                  </a:lnTo>
                  <a:cubicBezTo>
                    <a:pt x="5819751" y="0"/>
                    <a:pt x="5842000" y="22250"/>
                    <a:pt x="5842000" y="49696"/>
                  </a:cubicBezTo>
                  <a:lnTo>
                    <a:pt x="5842000" y="1347304"/>
                  </a:lnTo>
                  <a:cubicBezTo>
                    <a:pt x="5842000" y="1374750"/>
                    <a:pt x="5819751" y="1397000"/>
                    <a:pt x="5792304" y="1397000"/>
                  </a:cubicBezTo>
                  <a:lnTo>
                    <a:pt x="49696" y="1397000"/>
                  </a:lnTo>
                  <a:cubicBezTo>
                    <a:pt x="22250" y="1397000"/>
                    <a:pt x="0" y="1374750"/>
                    <a:pt x="0" y="1347304"/>
                  </a:cubicBezTo>
                  <a:lnTo>
                    <a:pt x="0" y="49696"/>
                  </a:lnTo>
                  <a:cubicBezTo>
                    <a:pt x="0" y="22250"/>
                    <a:pt x="22250" y="0"/>
                    <a:pt x="49696" y="0"/>
                  </a:cubicBez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584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Bus nos. 1, 1A, 17, 17C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34050" y="3857625"/>
            <a:ext cx="4381500" cy="1047750"/>
            <a:chOff x="0" y="0"/>
            <a:chExt cx="5842000" cy="139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42000" cy="1397000"/>
            </a:xfrm>
            <a:custGeom>
              <a:avLst/>
              <a:gdLst/>
              <a:ahLst/>
              <a:cxnLst/>
              <a:rect l="l" t="t" r="r" b="b"/>
              <a:pathLst>
                <a:path w="5842000" h="1397000">
                  <a:moveTo>
                    <a:pt x="49696" y="0"/>
                  </a:moveTo>
                  <a:lnTo>
                    <a:pt x="5792304" y="0"/>
                  </a:lnTo>
                  <a:cubicBezTo>
                    <a:pt x="5819751" y="0"/>
                    <a:pt x="5842000" y="22250"/>
                    <a:pt x="5842000" y="49696"/>
                  </a:cubicBezTo>
                  <a:lnTo>
                    <a:pt x="5842000" y="1347304"/>
                  </a:lnTo>
                  <a:cubicBezTo>
                    <a:pt x="5842000" y="1374750"/>
                    <a:pt x="5819751" y="1397000"/>
                    <a:pt x="5792304" y="1397000"/>
                  </a:cubicBezTo>
                  <a:lnTo>
                    <a:pt x="49696" y="1397000"/>
                  </a:lnTo>
                  <a:cubicBezTo>
                    <a:pt x="22250" y="1397000"/>
                    <a:pt x="0" y="1374750"/>
                    <a:pt x="0" y="1347304"/>
                  </a:cubicBezTo>
                  <a:lnTo>
                    <a:pt x="0" y="49696"/>
                  </a:lnTo>
                  <a:cubicBezTo>
                    <a:pt x="0" y="22250"/>
                    <a:pt x="22250" y="0"/>
                    <a:pt x="4969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584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Morning: 8:00 / 10:00 AM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76300" y="5334000"/>
            <a:ext cx="4381500" cy="1047750"/>
            <a:chOff x="0" y="0"/>
            <a:chExt cx="5842000" cy="1397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42000" cy="1397000"/>
            </a:xfrm>
            <a:custGeom>
              <a:avLst/>
              <a:gdLst/>
              <a:ahLst/>
              <a:cxnLst/>
              <a:rect l="l" t="t" r="r" b="b"/>
              <a:pathLst>
                <a:path w="5842000" h="1397000">
                  <a:moveTo>
                    <a:pt x="49696" y="0"/>
                  </a:moveTo>
                  <a:lnTo>
                    <a:pt x="5792304" y="0"/>
                  </a:lnTo>
                  <a:cubicBezTo>
                    <a:pt x="5819751" y="0"/>
                    <a:pt x="5842000" y="22250"/>
                    <a:pt x="5842000" y="49696"/>
                  </a:cubicBezTo>
                  <a:lnTo>
                    <a:pt x="5842000" y="1347304"/>
                  </a:lnTo>
                  <a:cubicBezTo>
                    <a:pt x="5842000" y="1374750"/>
                    <a:pt x="5819751" y="1397000"/>
                    <a:pt x="5792304" y="1397000"/>
                  </a:cubicBezTo>
                  <a:lnTo>
                    <a:pt x="49696" y="1397000"/>
                  </a:lnTo>
                  <a:cubicBezTo>
                    <a:pt x="22250" y="1397000"/>
                    <a:pt x="0" y="1374750"/>
                    <a:pt x="0" y="1347304"/>
                  </a:cubicBezTo>
                  <a:lnTo>
                    <a:pt x="0" y="49696"/>
                  </a:lnTo>
                  <a:cubicBezTo>
                    <a:pt x="0" y="22250"/>
                    <a:pt x="22250" y="0"/>
                    <a:pt x="4969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584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Evening: 3:00 / 5:00 PM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34050" y="5334000"/>
            <a:ext cx="4381500" cy="1047750"/>
            <a:chOff x="0" y="0"/>
            <a:chExt cx="5842000" cy="1397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42000" cy="1397000"/>
            </a:xfrm>
            <a:custGeom>
              <a:avLst/>
              <a:gdLst/>
              <a:ahLst/>
              <a:cxnLst/>
              <a:rect l="l" t="t" r="r" b="b"/>
              <a:pathLst>
                <a:path w="5842000" h="1397000">
                  <a:moveTo>
                    <a:pt x="49696" y="0"/>
                  </a:moveTo>
                  <a:lnTo>
                    <a:pt x="5792304" y="0"/>
                  </a:lnTo>
                  <a:cubicBezTo>
                    <a:pt x="5819751" y="0"/>
                    <a:pt x="5842000" y="22250"/>
                    <a:pt x="5842000" y="49696"/>
                  </a:cubicBezTo>
                  <a:lnTo>
                    <a:pt x="5842000" y="1347304"/>
                  </a:lnTo>
                  <a:cubicBezTo>
                    <a:pt x="5842000" y="1374750"/>
                    <a:pt x="5819751" y="1397000"/>
                    <a:pt x="5792304" y="1397000"/>
                  </a:cubicBezTo>
                  <a:lnTo>
                    <a:pt x="49696" y="1397000"/>
                  </a:lnTo>
                  <a:cubicBezTo>
                    <a:pt x="22250" y="1397000"/>
                    <a:pt x="0" y="1374750"/>
                    <a:pt x="0" y="1347304"/>
                  </a:cubicBezTo>
                  <a:lnTo>
                    <a:pt x="0" y="49696"/>
                  </a:lnTo>
                  <a:cubicBezTo>
                    <a:pt x="0" y="22250"/>
                    <a:pt x="22250" y="0"/>
                    <a:pt x="4969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584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Registration + driver details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76300" y="6810375"/>
            <a:ext cx="4381500" cy="1047750"/>
            <a:chOff x="0" y="0"/>
            <a:chExt cx="5842000" cy="1397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842000" cy="1397000"/>
            </a:xfrm>
            <a:custGeom>
              <a:avLst/>
              <a:gdLst/>
              <a:ahLst/>
              <a:cxnLst/>
              <a:rect l="l" t="t" r="r" b="b"/>
              <a:pathLst>
                <a:path w="5842000" h="1397000">
                  <a:moveTo>
                    <a:pt x="49696" y="0"/>
                  </a:moveTo>
                  <a:lnTo>
                    <a:pt x="5792304" y="0"/>
                  </a:lnTo>
                  <a:cubicBezTo>
                    <a:pt x="5819751" y="0"/>
                    <a:pt x="5842000" y="22250"/>
                    <a:pt x="5842000" y="49696"/>
                  </a:cubicBezTo>
                  <a:lnTo>
                    <a:pt x="5842000" y="1347304"/>
                  </a:lnTo>
                  <a:cubicBezTo>
                    <a:pt x="5842000" y="1374750"/>
                    <a:pt x="5819751" y="1397000"/>
                    <a:pt x="5792304" y="1397000"/>
                  </a:cubicBezTo>
                  <a:lnTo>
                    <a:pt x="49696" y="1397000"/>
                  </a:lnTo>
                  <a:cubicBezTo>
                    <a:pt x="22250" y="1397000"/>
                    <a:pt x="0" y="1374750"/>
                    <a:pt x="0" y="1347304"/>
                  </a:cubicBezTo>
                  <a:lnTo>
                    <a:pt x="0" y="49696"/>
                  </a:lnTo>
                  <a:cubicBezTo>
                    <a:pt x="0" y="22250"/>
                    <a:pt x="22250" y="0"/>
                    <a:pt x="4969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584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Origin → destination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34050" y="6810375"/>
            <a:ext cx="4381500" cy="1047750"/>
            <a:chOff x="0" y="0"/>
            <a:chExt cx="5842000" cy="1397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842000" cy="1397000"/>
            </a:xfrm>
            <a:custGeom>
              <a:avLst/>
              <a:gdLst/>
              <a:ahLst/>
              <a:cxnLst/>
              <a:rect l="l" t="t" r="r" b="b"/>
              <a:pathLst>
                <a:path w="5842000" h="1397000">
                  <a:moveTo>
                    <a:pt x="49696" y="0"/>
                  </a:moveTo>
                  <a:lnTo>
                    <a:pt x="5792304" y="0"/>
                  </a:lnTo>
                  <a:cubicBezTo>
                    <a:pt x="5819751" y="0"/>
                    <a:pt x="5842000" y="22250"/>
                    <a:pt x="5842000" y="49696"/>
                  </a:cubicBezTo>
                  <a:lnTo>
                    <a:pt x="5842000" y="1347304"/>
                  </a:lnTo>
                  <a:cubicBezTo>
                    <a:pt x="5842000" y="1374750"/>
                    <a:pt x="5819751" y="1397000"/>
                    <a:pt x="5792304" y="1397000"/>
                  </a:cubicBezTo>
                  <a:lnTo>
                    <a:pt x="49696" y="1397000"/>
                  </a:lnTo>
                  <a:cubicBezTo>
                    <a:pt x="22250" y="1397000"/>
                    <a:pt x="0" y="1374750"/>
                    <a:pt x="0" y="1347304"/>
                  </a:cubicBezTo>
                  <a:lnTo>
                    <a:pt x="0" y="49696"/>
                  </a:lnTo>
                  <a:cubicBezTo>
                    <a:pt x="0" y="22250"/>
                    <a:pt x="22250" y="0"/>
                    <a:pt x="4969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584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Ordered stopping points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AUTOMATIC NUMBER PLATE RECOGNITION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2333625"/>
            <a:ext cx="2333625" cy="1381125"/>
            <a:chOff x="0" y="0"/>
            <a:chExt cx="3111500" cy="1841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11500" cy="1841500"/>
            </a:xfrm>
            <a:custGeom>
              <a:avLst/>
              <a:gdLst/>
              <a:ahLst/>
              <a:cxnLst/>
              <a:rect l="l" t="t" r="r" b="b"/>
              <a:pathLst>
                <a:path w="3111500" h="184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748194"/>
                  </a:lnTo>
                  <a:cubicBezTo>
                    <a:pt x="3111500" y="1799725"/>
                    <a:pt x="3069725" y="1841500"/>
                    <a:pt x="3018194" y="1841500"/>
                  </a:cubicBezTo>
                  <a:lnTo>
                    <a:pt x="93306" y="1841500"/>
                  </a:lnTo>
                  <a:cubicBezTo>
                    <a:pt x="41775" y="1841500"/>
                    <a:pt x="0" y="1799725"/>
                    <a:pt x="0" y="17481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111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CAMERA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frame capture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3000375" y="3028950"/>
            <a:ext cx="447675" cy="0"/>
          </a:xfrm>
          <a:prstGeom prst="line">
            <a:avLst/>
          </a:prstGeom>
          <a:ln w="47625" cap="flat">
            <a:solidFill>
              <a:srgbClr val="071B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571875" y="2333625"/>
            <a:ext cx="2333625" cy="1381125"/>
            <a:chOff x="0" y="0"/>
            <a:chExt cx="3111500" cy="1841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11500" cy="1841500"/>
            </a:xfrm>
            <a:custGeom>
              <a:avLst/>
              <a:gdLst/>
              <a:ahLst/>
              <a:cxnLst/>
              <a:rect l="l" t="t" r="r" b="b"/>
              <a:pathLst>
                <a:path w="3111500" h="184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748194"/>
                  </a:lnTo>
                  <a:cubicBezTo>
                    <a:pt x="3111500" y="1799725"/>
                    <a:pt x="3069725" y="1841500"/>
                    <a:pt x="3018194" y="1841500"/>
                  </a:cubicBezTo>
                  <a:lnTo>
                    <a:pt x="93306" y="1841500"/>
                  </a:lnTo>
                  <a:cubicBezTo>
                    <a:pt x="41775" y="1841500"/>
                    <a:pt x="0" y="1799725"/>
                    <a:pt x="0" y="17481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111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OCR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Tesseract.js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5905500" y="3028950"/>
            <a:ext cx="447675" cy="0"/>
          </a:xfrm>
          <a:prstGeom prst="line">
            <a:avLst/>
          </a:prstGeom>
          <a:ln w="47625" cap="flat">
            <a:solidFill>
              <a:srgbClr val="071B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6477000" y="2333625"/>
            <a:ext cx="2333625" cy="1381125"/>
            <a:chOff x="0" y="0"/>
            <a:chExt cx="3111500" cy="1841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11500" cy="1841500"/>
            </a:xfrm>
            <a:custGeom>
              <a:avLst/>
              <a:gdLst/>
              <a:ahLst/>
              <a:cxnLst/>
              <a:rect l="l" t="t" r="r" b="b"/>
              <a:pathLst>
                <a:path w="3111500" h="184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748194"/>
                  </a:lnTo>
                  <a:cubicBezTo>
                    <a:pt x="3111500" y="1799725"/>
                    <a:pt x="3069725" y="1841500"/>
                    <a:pt x="3018194" y="1841500"/>
                  </a:cubicBezTo>
                  <a:lnTo>
                    <a:pt x="93306" y="1841500"/>
                  </a:lnTo>
                  <a:cubicBezTo>
                    <a:pt x="41775" y="1841500"/>
                    <a:pt x="0" y="1799725"/>
                    <a:pt x="0" y="17481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111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NORMALIZE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registration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8810625" y="3028950"/>
            <a:ext cx="447675" cy="0"/>
          </a:xfrm>
          <a:prstGeom prst="line">
            <a:avLst/>
          </a:prstGeom>
          <a:ln w="47625" cap="flat">
            <a:solidFill>
              <a:srgbClr val="071B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9382125" y="2333625"/>
            <a:ext cx="2333625" cy="1381125"/>
            <a:chOff x="0" y="0"/>
            <a:chExt cx="3111500" cy="1841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11500" cy="1841500"/>
            </a:xfrm>
            <a:custGeom>
              <a:avLst/>
              <a:gdLst/>
              <a:ahLst/>
              <a:cxnLst/>
              <a:rect l="l" t="t" r="r" b="b"/>
              <a:pathLst>
                <a:path w="3111500" h="184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748194"/>
                  </a:lnTo>
                  <a:cubicBezTo>
                    <a:pt x="3111500" y="1799725"/>
                    <a:pt x="3069725" y="1841500"/>
                    <a:pt x="3018194" y="1841500"/>
                  </a:cubicBezTo>
                  <a:lnTo>
                    <a:pt x="93306" y="1841500"/>
                  </a:lnTo>
                  <a:cubicBezTo>
                    <a:pt x="41775" y="1841500"/>
                    <a:pt x="0" y="1799725"/>
                    <a:pt x="0" y="17481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111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LOOKUP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registered bus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1715750" y="3028950"/>
            <a:ext cx="447675" cy="0"/>
          </a:xfrm>
          <a:prstGeom prst="line">
            <a:avLst/>
          </a:prstGeom>
          <a:ln w="47625" cap="flat">
            <a:solidFill>
              <a:srgbClr val="071B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2287250" y="2333625"/>
            <a:ext cx="2333625" cy="1381125"/>
            <a:chOff x="0" y="0"/>
            <a:chExt cx="3111500" cy="1841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11500" cy="1841500"/>
            </a:xfrm>
            <a:custGeom>
              <a:avLst/>
              <a:gdLst/>
              <a:ahLst/>
              <a:cxnLst/>
              <a:rect l="l" t="t" r="r" b="b"/>
              <a:pathLst>
                <a:path w="3111500" h="184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748194"/>
                  </a:lnTo>
                  <a:cubicBezTo>
                    <a:pt x="3111500" y="1799725"/>
                    <a:pt x="3069725" y="1841500"/>
                    <a:pt x="3018194" y="1841500"/>
                  </a:cubicBezTo>
                  <a:lnTo>
                    <a:pt x="93306" y="1841500"/>
                  </a:lnTo>
                  <a:cubicBezTo>
                    <a:pt x="41775" y="1841500"/>
                    <a:pt x="0" y="1799725"/>
                    <a:pt x="0" y="17481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111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VALIDATE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schedule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4620875" y="3028950"/>
            <a:ext cx="447675" cy="0"/>
          </a:xfrm>
          <a:prstGeom prst="line">
            <a:avLst/>
          </a:prstGeom>
          <a:ln w="47625" cap="flat">
            <a:solidFill>
              <a:srgbClr val="071B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5192375" y="2333625"/>
            <a:ext cx="2333625" cy="1381125"/>
            <a:chOff x="0" y="0"/>
            <a:chExt cx="3111500" cy="1841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11500" cy="1841500"/>
            </a:xfrm>
            <a:custGeom>
              <a:avLst/>
              <a:gdLst/>
              <a:ahLst/>
              <a:cxnLst/>
              <a:rect l="l" t="t" r="r" b="b"/>
              <a:pathLst>
                <a:path w="3111500" h="184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748194"/>
                  </a:lnTo>
                  <a:cubicBezTo>
                    <a:pt x="3111500" y="1799725"/>
                    <a:pt x="3069725" y="1841500"/>
                    <a:pt x="3018194" y="1841500"/>
                  </a:cubicBezTo>
                  <a:lnTo>
                    <a:pt x="93306" y="1841500"/>
                  </a:lnTo>
                  <a:cubicBezTo>
                    <a:pt x="41775" y="1841500"/>
                    <a:pt x="0" y="1799725"/>
                    <a:pt x="0" y="17481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3111500" cy="18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RECORD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71B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entry event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76300" y="4733925"/>
            <a:ext cx="165354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Browser camera API  •  text extraction  •  registration matching  •  bus + driver identification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6300" y="5772150"/>
            <a:ext cx="476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66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RELIABILITY CONTROLS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6300" y="6315075"/>
            <a:ext cx="14287500" cy="34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Confidence review  /  repeated-frame duplicate detection  /  unregistered vehicle warning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6300" y="7734300"/>
            <a:ext cx="165354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C83C3C"/>
                </a:solidFill>
                <a:latin typeface="Source Sans 3"/>
                <a:ea typeface="Source Sans 3"/>
                <a:cs typeface="Source Sans 3"/>
                <a:sym typeface="Source Sans 3"/>
              </a:rPr>
              <a:t>OCR accuracy varies with lighting, plate visibility, angle and image quality. Tesseract.js is an initial approach requiring enhancement for production reliability.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MORNING ENTRY  /  EVENING DEPARTURE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809750"/>
            <a:ext cx="7810500" cy="5810250"/>
            <a:chOff x="0" y="0"/>
            <a:chExt cx="10414000" cy="7747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14000" cy="7747000"/>
            </a:xfrm>
            <a:custGeom>
              <a:avLst/>
              <a:gdLst/>
              <a:ahLst/>
              <a:cxnLst/>
              <a:rect l="l" t="t" r="r" b="b"/>
              <a:pathLst>
                <a:path w="10414000" h="7747000">
                  <a:moveTo>
                    <a:pt x="0" y="0"/>
                  </a:moveTo>
                  <a:lnTo>
                    <a:pt x="10414000" y="0"/>
                  </a:lnTo>
                  <a:lnTo>
                    <a:pt x="10414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14000" cy="778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6300" y="1809750"/>
            <a:ext cx="7810500" cy="1000125"/>
            <a:chOff x="0" y="0"/>
            <a:chExt cx="10414000" cy="1333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14000" cy="1333500"/>
            </a:xfrm>
            <a:custGeom>
              <a:avLst/>
              <a:gdLst/>
              <a:ahLst/>
              <a:cxnLst/>
              <a:rect l="l" t="t" r="r" b="b"/>
              <a:pathLst>
                <a:path w="10414000" h="1333500">
                  <a:moveTo>
                    <a:pt x="0" y="0"/>
                  </a:moveTo>
                  <a:lnTo>
                    <a:pt x="10414000" y="0"/>
                  </a:lnTo>
                  <a:lnTo>
                    <a:pt x="1041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1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57300" y="2133600"/>
            <a:ext cx="6667500" cy="38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MORNING ENTRY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7300" y="3114675"/>
            <a:ext cx="6667500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Records campus entry • compares scheduled arrival • displays bus, driver, route and timestamps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7300" y="5314950"/>
            <a:ext cx="6667500" cy="1203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1683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 DATA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1683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7:40 scheduled  /  7:36 actual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1683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 TIME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620250" y="1809750"/>
            <a:ext cx="7810500" cy="5810250"/>
            <a:chOff x="0" y="0"/>
            <a:chExt cx="10414000" cy="774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14000" cy="7747000"/>
            </a:xfrm>
            <a:custGeom>
              <a:avLst/>
              <a:gdLst/>
              <a:ahLst/>
              <a:cxnLst/>
              <a:rect l="l" t="t" r="r" b="b"/>
              <a:pathLst>
                <a:path w="10414000" h="7747000">
                  <a:moveTo>
                    <a:pt x="0" y="0"/>
                  </a:moveTo>
                  <a:lnTo>
                    <a:pt x="10414000" y="0"/>
                  </a:lnTo>
                  <a:lnTo>
                    <a:pt x="10414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414000" cy="778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20250" y="1809750"/>
            <a:ext cx="7810500" cy="1000125"/>
            <a:chOff x="0" y="0"/>
            <a:chExt cx="10414000" cy="1333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14000" cy="1333500"/>
            </a:xfrm>
            <a:custGeom>
              <a:avLst/>
              <a:gdLst/>
              <a:ahLst/>
              <a:cxnLst/>
              <a:rect l="l" t="t" r="r" b="b"/>
              <a:pathLst>
                <a:path w="10414000" h="1333500">
                  <a:moveTo>
                    <a:pt x="0" y="0"/>
                  </a:moveTo>
                  <a:lnTo>
                    <a:pt x="10414000" y="0"/>
                  </a:lnTo>
                  <a:lnTo>
                    <a:pt x="1041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41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001250" y="2133600"/>
            <a:ext cx="6667500" cy="38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EVENING DEPARTURE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01250" y="3114675"/>
            <a:ext cx="6667500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Records campus exit • compares scheduled departure • starts GPS journey tracking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01250" y="5314950"/>
            <a:ext cx="6667500" cy="1203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C83C3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 DATA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C83C3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4:00 scheduled  /  4:12 actual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C83C3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LATE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76300" y="8096250"/>
            <a:ext cx="16535400" cy="904875"/>
            <a:chOff x="0" y="0"/>
            <a:chExt cx="22047200" cy="1206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047200" cy="1206500"/>
            </a:xfrm>
            <a:custGeom>
              <a:avLst/>
              <a:gdLst/>
              <a:ahLst/>
              <a:cxnLst/>
              <a:rect l="l" t="t" r="r" b="b"/>
              <a:pathLst>
                <a:path w="22047200" h="1206500">
                  <a:moveTo>
                    <a:pt x="0" y="0"/>
                  </a:moveTo>
                  <a:lnTo>
                    <a:pt x="22047200" y="0"/>
                  </a:lnTo>
                  <a:lnTo>
                    <a:pt x="220472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2047200" cy="1244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76300" y="8305800"/>
            <a:ext cx="1653540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5"/>
              </a:lnSpc>
            </a:pPr>
            <a:r>
              <a:rPr lang="en-US" sz="1950" b="1">
                <a:solidFill>
                  <a:srgbClr val="10223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GREEN = at/before schedule     RED = after schedule     WARNING = unregistered     REVIEW REQUIRED = uncertain OCR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GPS JOURNEY TRACKING &amp; DESTINATION ARRIVAL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05750" y="1714500"/>
            <a:ext cx="9505950" cy="6858000"/>
            <a:chOff x="0" y="0"/>
            <a:chExt cx="12674600" cy="914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74600" cy="9144000"/>
            </a:xfrm>
            <a:custGeom>
              <a:avLst/>
              <a:gdLst/>
              <a:ahLst/>
              <a:cxnLst/>
              <a:rect l="l" t="t" r="r" b="b"/>
              <a:pathLst>
                <a:path w="12674600" h="9144000">
                  <a:moveTo>
                    <a:pt x="0" y="0"/>
                  </a:moveTo>
                  <a:lnTo>
                    <a:pt x="12674600" y="0"/>
                  </a:lnTo>
                  <a:lnTo>
                    <a:pt x="126746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DFE8E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6746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8858250" y="5810250"/>
            <a:ext cx="1714500" cy="1047750"/>
          </a:xfrm>
          <a:prstGeom prst="line">
            <a:avLst/>
          </a:prstGeom>
          <a:ln w="95250" cap="rnd">
            <a:solidFill>
              <a:srgbClr val="F4C4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0572750" y="5810250"/>
            <a:ext cx="1619250" cy="381000"/>
          </a:xfrm>
          <a:prstGeom prst="line">
            <a:avLst/>
          </a:prstGeom>
          <a:ln w="95250" cap="rnd">
            <a:solidFill>
              <a:srgbClr val="F4C4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V="1">
            <a:off x="12192000" y="4572000"/>
            <a:ext cx="1809750" cy="1619250"/>
          </a:xfrm>
          <a:prstGeom prst="line">
            <a:avLst/>
          </a:prstGeom>
          <a:ln w="95250" cap="rnd">
            <a:solidFill>
              <a:srgbClr val="F4C4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14001750" y="2857500"/>
            <a:ext cx="2095500" cy="1714500"/>
          </a:xfrm>
          <a:prstGeom prst="line">
            <a:avLst/>
          </a:prstGeom>
          <a:ln w="95250" cap="rnd">
            <a:solidFill>
              <a:srgbClr val="071B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8705850" y="6705600"/>
            <a:ext cx="304800" cy="304800"/>
            <a:chOff x="0" y="0"/>
            <a:chExt cx="4064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420350" y="5657850"/>
            <a:ext cx="304800" cy="304800"/>
            <a:chOff x="0" y="0"/>
            <a:chExt cx="4064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039600" y="6038850"/>
            <a:ext cx="304800" cy="304800"/>
            <a:chOff x="0" y="0"/>
            <a:chExt cx="4064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3849350" y="4419600"/>
            <a:ext cx="304800" cy="304800"/>
            <a:chOff x="0" y="0"/>
            <a:chExt cx="406400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5944850" y="2705100"/>
            <a:ext cx="304800" cy="304800"/>
            <a:chOff x="0" y="0"/>
            <a:chExt cx="406400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83C3C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8334375" y="2009775"/>
            <a:ext cx="23812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66">
                <a:solidFill>
                  <a:srgbClr val="071B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DEMO GPS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6300" y="1981200"/>
            <a:ext cx="5619750" cy="360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Exit confirmed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↓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GPS updates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↓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 moves on route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↓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Geofence reached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↓</a:t>
            </a:r>
          </a:p>
          <a:p>
            <a:pPr algn="l">
              <a:lnSpc>
                <a:spcPts val="3187"/>
              </a:lnSpc>
            </a:pPr>
            <a:r>
              <a:rPr lang="en-US" sz="25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Arrival recorded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91500" y="7639050"/>
            <a:ext cx="8572500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5"/>
              </a:lnSpc>
            </a:pPr>
            <a:r>
              <a:rPr lang="en-US" sz="1950" b="1">
                <a:solidFill>
                  <a:srgbClr val="10223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 TRANSIT  •  GPS STALE  •  ARRIVAL UNCONFIRMED</a:t>
            </a:r>
          </a:p>
          <a:p>
            <a:pPr algn="ctr">
              <a:lnSpc>
                <a:spcPts val="2535"/>
              </a:lnSpc>
            </a:pPr>
            <a:r>
              <a:rPr lang="en-US" sz="1950" b="1">
                <a:solidFill>
                  <a:srgbClr val="10223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ARRIVED ON TIME  •  ARRIVED LATE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6300" y="9096375"/>
            <a:ext cx="165354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C83C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Campus gate camera alone cannot confirm destination arrival; an authorized GPS device/feed is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DASHBOARD, REPORTS &amp; SAMPLE OUTPUT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714500"/>
            <a:ext cx="2047875" cy="1381125"/>
            <a:chOff x="0" y="0"/>
            <a:chExt cx="2730500" cy="1841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30500" cy="1841500"/>
            </a:xfrm>
            <a:custGeom>
              <a:avLst/>
              <a:gdLst/>
              <a:ahLst/>
              <a:cxnLst/>
              <a:rect l="l" t="t" r="r" b="b"/>
              <a:pathLst>
                <a:path w="2730500" h="1841500">
                  <a:moveTo>
                    <a:pt x="0" y="0"/>
                  </a:moveTo>
                  <a:lnTo>
                    <a:pt x="2730500" y="0"/>
                  </a:lnTo>
                  <a:lnTo>
                    <a:pt x="27305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305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228975" y="1714500"/>
            <a:ext cx="2047875" cy="1381125"/>
            <a:chOff x="0" y="0"/>
            <a:chExt cx="2730500" cy="1841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30500" cy="1841500"/>
            </a:xfrm>
            <a:custGeom>
              <a:avLst/>
              <a:gdLst/>
              <a:ahLst/>
              <a:cxnLst/>
              <a:rect l="l" t="t" r="r" b="b"/>
              <a:pathLst>
                <a:path w="2730500" h="1841500">
                  <a:moveTo>
                    <a:pt x="0" y="0"/>
                  </a:moveTo>
                  <a:lnTo>
                    <a:pt x="2730500" y="0"/>
                  </a:lnTo>
                  <a:lnTo>
                    <a:pt x="27305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305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81650" y="1714500"/>
            <a:ext cx="2047875" cy="1381125"/>
            <a:chOff x="0" y="0"/>
            <a:chExt cx="2730500" cy="1841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30500" cy="1841500"/>
            </a:xfrm>
            <a:custGeom>
              <a:avLst/>
              <a:gdLst/>
              <a:ahLst/>
              <a:cxnLst/>
              <a:rect l="l" t="t" r="r" b="b"/>
              <a:pathLst>
                <a:path w="2730500" h="1841500">
                  <a:moveTo>
                    <a:pt x="0" y="0"/>
                  </a:moveTo>
                  <a:lnTo>
                    <a:pt x="2730500" y="0"/>
                  </a:lnTo>
                  <a:lnTo>
                    <a:pt x="27305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7305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934325" y="1714500"/>
            <a:ext cx="2047875" cy="1381125"/>
            <a:chOff x="0" y="0"/>
            <a:chExt cx="2730500" cy="184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30500" cy="1841500"/>
            </a:xfrm>
            <a:custGeom>
              <a:avLst/>
              <a:gdLst/>
              <a:ahLst/>
              <a:cxnLst/>
              <a:rect l="l" t="t" r="r" b="b"/>
              <a:pathLst>
                <a:path w="2730500" h="1841500">
                  <a:moveTo>
                    <a:pt x="0" y="0"/>
                  </a:moveTo>
                  <a:lnTo>
                    <a:pt x="2730500" y="0"/>
                  </a:lnTo>
                  <a:lnTo>
                    <a:pt x="27305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305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0" y="1714500"/>
            <a:ext cx="2047875" cy="1381125"/>
            <a:chOff x="0" y="0"/>
            <a:chExt cx="2730500" cy="1841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30500" cy="1841500"/>
            </a:xfrm>
            <a:custGeom>
              <a:avLst/>
              <a:gdLst/>
              <a:ahLst/>
              <a:cxnLst/>
              <a:rect l="l" t="t" r="r" b="b"/>
              <a:pathLst>
                <a:path w="2730500" h="1841500">
                  <a:moveTo>
                    <a:pt x="0" y="0"/>
                  </a:moveTo>
                  <a:lnTo>
                    <a:pt x="2730500" y="0"/>
                  </a:lnTo>
                  <a:lnTo>
                    <a:pt x="27305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7305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639675" y="1714500"/>
            <a:ext cx="2047875" cy="1381125"/>
            <a:chOff x="0" y="0"/>
            <a:chExt cx="2730500" cy="1841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30500" cy="1841500"/>
            </a:xfrm>
            <a:custGeom>
              <a:avLst/>
              <a:gdLst/>
              <a:ahLst/>
              <a:cxnLst/>
              <a:rect l="l" t="t" r="r" b="b"/>
              <a:pathLst>
                <a:path w="2730500" h="1841500">
                  <a:moveTo>
                    <a:pt x="0" y="0"/>
                  </a:moveTo>
                  <a:lnTo>
                    <a:pt x="2730500" y="0"/>
                  </a:lnTo>
                  <a:lnTo>
                    <a:pt x="27305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7305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992350" y="1714500"/>
            <a:ext cx="2047875" cy="1381125"/>
            <a:chOff x="0" y="0"/>
            <a:chExt cx="2730500" cy="1841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730500" cy="1841500"/>
            </a:xfrm>
            <a:custGeom>
              <a:avLst/>
              <a:gdLst/>
              <a:ahLst/>
              <a:cxnLst/>
              <a:rect l="l" t="t" r="r" b="b"/>
              <a:pathLst>
                <a:path w="2730500" h="1841500">
                  <a:moveTo>
                    <a:pt x="0" y="0"/>
                  </a:moveTo>
                  <a:lnTo>
                    <a:pt x="2730500" y="0"/>
                  </a:lnTo>
                  <a:lnTo>
                    <a:pt x="27305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7305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19175" y="1943100"/>
            <a:ext cx="1762125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9175" y="2571750"/>
            <a:ext cx="17621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Registered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71850" y="1943100"/>
            <a:ext cx="1762125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71850" y="2571750"/>
            <a:ext cx="17621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Morning entries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24525" y="1943100"/>
            <a:ext cx="1762125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 b="1">
                <a:solidFill>
                  <a:srgbClr val="C83C3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24525" y="2571750"/>
            <a:ext cx="17621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Late AM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77200" y="1943100"/>
            <a:ext cx="1762125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77200" y="2571750"/>
            <a:ext cx="17621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Evening exits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29875" y="1943100"/>
            <a:ext cx="1762125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 b="1">
                <a:solidFill>
                  <a:srgbClr val="C83C3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429875" y="2571750"/>
            <a:ext cx="17621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Late PM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82550" y="1943100"/>
            <a:ext cx="1762125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82550" y="2571750"/>
            <a:ext cx="17621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 transit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135225" y="1943100"/>
            <a:ext cx="1762125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 b="1">
                <a:solidFill>
                  <a:srgbClr val="1683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69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135225" y="2571750"/>
            <a:ext cx="17621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Arrived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82" y="3067578"/>
            <a:ext cx="7468886" cy="6152094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>
            <a:off x="7429500" y="3619500"/>
            <a:ext cx="9982200" cy="5000625"/>
            <a:chOff x="0" y="0"/>
            <a:chExt cx="13309600" cy="6667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309600" cy="6667500"/>
            </a:xfrm>
            <a:custGeom>
              <a:avLst/>
              <a:gdLst/>
              <a:ahLst/>
              <a:cxnLst/>
              <a:rect l="l" t="t" r="r" b="b"/>
              <a:pathLst>
                <a:path w="13309600" h="6667500">
                  <a:moveTo>
                    <a:pt x="0" y="0"/>
                  </a:moveTo>
                  <a:lnTo>
                    <a:pt x="13309600" y="0"/>
                  </a:lnTo>
                  <a:lnTo>
                    <a:pt x="13309600" y="6667500"/>
                  </a:lnTo>
                  <a:lnTo>
                    <a:pt x="0" y="6667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3309600" cy="670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7715250" y="3905250"/>
            <a:ext cx="9525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5D6B7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DATE     BUS     REG. NO.       DRIVER          ROUTE          SCHEDULE   ACTUAL   STATUS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15250" y="4438650"/>
            <a:ext cx="9525000" cy="122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12 Mar   1A      TN-XX-0001   Demo Driver A   Porur          7:40 AM     7:36     ON TIME</a:t>
            </a:r>
          </a:p>
          <a:p>
            <a:pPr algn="l">
              <a:lnSpc>
                <a:spcPts val="330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12 Mar   17C    TN-XX-0017   Demo Driver B   Avadi           4:00 PM     4:12     LATE</a:t>
            </a:r>
          </a:p>
          <a:p>
            <a:pPr algn="l">
              <a:lnSpc>
                <a:spcPts val="330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12 Mar   1       TN-XX-0002   Demo Driver C   Tambaram    7:45 AM     7:43     ON TIME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15250" y="7953375"/>
            <a:ext cx="904875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D6B78"/>
                </a:solidFill>
                <a:latin typeface="Source Sans 3"/>
                <a:ea typeface="Source Sans 3"/>
                <a:cs typeface="Source Sans 3"/>
                <a:sym typeface="Source Sans 3"/>
              </a:rPr>
              <a:t>Illustrative values computed from DEMO DATA records.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47700"/>
            <a:ext cx="14287500" cy="55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071B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TESTING, LIMITATIONS &amp; FUTURE ENHANCEMENTS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04925"/>
            <a:ext cx="1428750" cy="66675"/>
            <a:chOff x="0" y="0"/>
            <a:chExt cx="1905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05000" cy="88900"/>
            </a:xfrm>
            <a:custGeom>
              <a:avLst/>
              <a:gdLst/>
              <a:ahLst/>
              <a:cxnLst/>
              <a:rect l="l" t="t" r="r" b="b"/>
              <a:pathLst>
                <a:path w="1905000" h="88900">
                  <a:moveTo>
                    <a:pt x="0" y="0"/>
                  </a:moveTo>
                  <a:lnTo>
                    <a:pt x="1905000" y="0"/>
                  </a:lnTo>
                  <a:lnTo>
                    <a:pt x="1905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714500"/>
            <a:ext cx="4953000" cy="7334250"/>
            <a:chOff x="0" y="0"/>
            <a:chExt cx="6604000" cy="9779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0" cy="9779000"/>
            </a:xfrm>
            <a:custGeom>
              <a:avLst/>
              <a:gdLst/>
              <a:ahLst/>
              <a:cxnLst/>
              <a:rect l="l" t="t" r="r" b="b"/>
              <a:pathLst>
                <a:path w="6604000" h="9779000">
                  <a:moveTo>
                    <a:pt x="0" y="0"/>
                  </a:moveTo>
                  <a:lnTo>
                    <a:pt x="6604000" y="0"/>
                  </a:lnTo>
                  <a:lnTo>
                    <a:pt x="6604000" y="9779000"/>
                  </a:lnTo>
                  <a:lnTo>
                    <a:pt x="0" y="9779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0" cy="981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6300" y="1714500"/>
            <a:ext cx="4953000" cy="809625"/>
            <a:chOff x="0" y="0"/>
            <a:chExt cx="6604000" cy="1079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0" cy="1079500"/>
            </a:xfrm>
            <a:custGeom>
              <a:avLst/>
              <a:gdLst/>
              <a:ahLst/>
              <a:cxnLst/>
              <a:rect l="l" t="t" r="r" b="b"/>
              <a:pathLst>
                <a:path w="6604000" h="1079500">
                  <a:moveTo>
                    <a:pt x="0" y="0"/>
                  </a:moveTo>
                  <a:lnTo>
                    <a:pt x="6604000" y="0"/>
                  </a:lnTo>
                  <a:lnTo>
                    <a:pt x="6604000" y="1079500"/>
                  </a:lnTo>
                  <a:lnTo>
                    <a:pt x="0" y="10795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604000" cy="111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2050" y="1914525"/>
            <a:ext cx="4381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 spc="66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8250" y="29718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Registration search + validation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8250" y="38481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Route and schedule lookup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8250" y="47244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Arrival / departure validation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8250" y="56007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OCR confidence + duplicate scans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8250" y="64770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GPS simulation + geofence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8250" y="73533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Persistence + report export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400800" y="1714500"/>
            <a:ext cx="4953000" cy="7334250"/>
            <a:chOff x="0" y="0"/>
            <a:chExt cx="6604000" cy="9779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04000" cy="9779000"/>
            </a:xfrm>
            <a:custGeom>
              <a:avLst/>
              <a:gdLst/>
              <a:ahLst/>
              <a:cxnLst/>
              <a:rect l="l" t="t" r="r" b="b"/>
              <a:pathLst>
                <a:path w="6604000" h="9779000">
                  <a:moveTo>
                    <a:pt x="0" y="0"/>
                  </a:moveTo>
                  <a:lnTo>
                    <a:pt x="6604000" y="0"/>
                  </a:lnTo>
                  <a:lnTo>
                    <a:pt x="6604000" y="9779000"/>
                  </a:lnTo>
                  <a:lnTo>
                    <a:pt x="0" y="9779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604000" cy="981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00800" y="1714500"/>
            <a:ext cx="4953000" cy="809625"/>
            <a:chOff x="0" y="0"/>
            <a:chExt cx="6604000" cy="1079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04000" cy="1079500"/>
            </a:xfrm>
            <a:custGeom>
              <a:avLst/>
              <a:gdLst/>
              <a:ahLst/>
              <a:cxnLst/>
              <a:rect l="l" t="t" r="r" b="b"/>
              <a:pathLst>
                <a:path w="6604000" h="1079500">
                  <a:moveTo>
                    <a:pt x="0" y="0"/>
                  </a:moveTo>
                  <a:lnTo>
                    <a:pt x="6604000" y="0"/>
                  </a:lnTo>
                  <a:lnTo>
                    <a:pt x="6604000" y="1079500"/>
                  </a:lnTo>
                  <a:lnTo>
                    <a:pt x="0" y="1079500"/>
                  </a:lnTo>
                  <a:close/>
                </a:path>
              </a:pathLst>
            </a:custGeom>
            <a:solidFill>
              <a:srgbClr val="C83C3C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604000" cy="111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686550" y="1914525"/>
            <a:ext cx="4381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 spc="66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CURRENT LIMITATIONS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2750" y="29718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Demo records are not official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62750" y="38481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Simulated GPS is not live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62750" y="47244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localStorage is browser-specific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62750" y="56007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OCR may need human review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62750" y="64770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Background GPS needs infrastructure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925300" y="1714500"/>
            <a:ext cx="4953000" cy="7334250"/>
            <a:chOff x="0" y="0"/>
            <a:chExt cx="6604000" cy="9779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604000" cy="9779000"/>
            </a:xfrm>
            <a:custGeom>
              <a:avLst/>
              <a:gdLst/>
              <a:ahLst/>
              <a:cxnLst/>
              <a:rect l="l" t="t" r="r" b="b"/>
              <a:pathLst>
                <a:path w="6604000" h="9779000">
                  <a:moveTo>
                    <a:pt x="0" y="0"/>
                  </a:moveTo>
                  <a:lnTo>
                    <a:pt x="6604000" y="0"/>
                  </a:lnTo>
                  <a:lnTo>
                    <a:pt x="6604000" y="9779000"/>
                  </a:lnTo>
                  <a:lnTo>
                    <a:pt x="0" y="9779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604000" cy="981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25300" y="1714500"/>
            <a:ext cx="4953000" cy="809625"/>
            <a:chOff x="0" y="0"/>
            <a:chExt cx="6604000" cy="10795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604000" cy="1079500"/>
            </a:xfrm>
            <a:custGeom>
              <a:avLst/>
              <a:gdLst/>
              <a:ahLst/>
              <a:cxnLst/>
              <a:rect l="l" t="t" r="r" b="b"/>
              <a:pathLst>
                <a:path w="6604000" h="1079500">
                  <a:moveTo>
                    <a:pt x="0" y="0"/>
                  </a:moveTo>
                  <a:lnTo>
                    <a:pt x="6604000" y="0"/>
                  </a:lnTo>
                  <a:lnTo>
                    <a:pt x="6604000" y="1079500"/>
                  </a:lnTo>
                  <a:lnTo>
                    <a:pt x="0" y="1079500"/>
                  </a:lnTo>
                  <a:close/>
                </a:path>
              </a:pathLst>
            </a:custGeom>
            <a:solidFill>
              <a:srgbClr val="16834B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6604000" cy="111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211050" y="1914525"/>
            <a:ext cx="4381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 spc="66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FUTURE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87250" y="29718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Actual bus GPS integration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87250" y="38481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Secure role-based database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87250" y="47244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Dedicated plate detection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287250" y="56007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Real-time late notifications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287250" y="64770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Student information portal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287250" y="7353300"/>
            <a:ext cx="4238625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23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 Multi-device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B33">
                <a:alpha val="7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857250"/>
            <a:ext cx="2095500" cy="85725"/>
            <a:chOff x="0" y="0"/>
            <a:chExt cx="2794000" cy="114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4000" cy="114300"/>
            </a:xfrm>
            <a:custGeom>
              <a:avLst/>
              <a:gdLst/>
              <a:ahLst/>
              <a:cxnLst/>
              <a:rect l="l" t="t" r="r" b="b"/>
              <a:pathLst>
                <a:path w="2794000" h="114300">
                  <a:moveTo>
                    <a:pt x="0" y="0"/>
                  </a:moveTo>
                  <a:lnTo>
                    <a:pt x="2794000" y="0"/>
                  </a:lnTo>
                  <a:lnTo>
                    <a:pt x="2794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4C43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4000" cy="152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76300" y="1181100"/>
            <a:ext cx="10477500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1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SMARTBUS GATE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6300" y="2409825"/>
            <a:ext cx="9906000" cy="69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One portal for fleet data, routes, camera-assisted identification, schedule validation and GPS journey monitoring.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300" y="4257675"/>
            <a:ext cx="10096500" cy="113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Faster gate identification  •  organized records</a:t>
            </a:r>
          </a:p>
          <a:p>
            <a:pPr algn="l">
              <a:lnSpc>
                <a:spcPts val="3022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Automatic time comparison  •  improved journey visibility</a:t>
            </a:r>
          </a:p>
          <a:p>
            <a:pPr algn="l">
              <a:lnSpc>
                <a:spcPts val="3022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Searchable reports  •  foundation for real-time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6300" y="7277100"/>
            <a:ext cx="8096250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sz="7050" b="1">
                <a:solidFill>
                  <a:srgbClr val="F4C4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900</Words>
  <Application>Microsoft Office PowerPoint</Application>
  <PresentationFormat>Custom</PresentationFormat>
  <Paragraphs>208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League Spartan</vt:lpstr>
      <vt:lpstr>Source Sans 3</vt:lpstr>
      <vt:lpstr>Calibri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SmartBus Gate Review</dc:title>
  <dc:creator>Prasanna Kumar</dc:creator>
  <cp:lastModifiedBy>Prasanna Kumar</cp:lastModifiedBy>
  <cp:revision>3</cp:revision>
  <dcterms:created xsi:type="dcterms:W3CDTF">2006-08-16T00:00:00Z</dcterms:created>
  <dcterms:modified xsi:type="dcterms:W3CDTF">2026-10-14T12:44:02Z</dcterms:modified>
  <dc:identifier>DAHX-NMJkrw</dc:identifier>
</cp:coreProperties>
</file>